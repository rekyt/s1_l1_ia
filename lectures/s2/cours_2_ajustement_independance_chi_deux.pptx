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media/image1.png" ContentType="image/png"/>
  <Override PartName="/ppt/media/image2.wmf" ContentType="image/x-wmf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1" r:id="rId4"/>
    <p:sldMasterId id="2147483652" r:id="rId5"/>
    <p:sldMasterId id="2147483654" r:id="rId6"/>
    <p:sldMasterId id="2147483656" r:id="rId7"/>
    <p:sldMasterId id="2147483657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8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536840" y="2374920"/>
            <a:ext cx="3733560" cy="191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2_Custom Layou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wmf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3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c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533520" y="2888280"/>
            <a:ext cx="4793400" cy="396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Lato"/>
              </a:rPr>
              <a:t>Cliquez pour éditer le format du plan de texte</a:t>
            </a:r>
            <a:endParaRPr b="0" lang="en-US" sz="28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Second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Troisième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Quatrième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</p:txBody>
      </p:sp>
      <p:pic>
        <p:nvPicPr>
          <p:cNvPr id="1" name="Image 2" descr=""/>
          <p:cNvPicPr/>
          <p:nvPr/>
        </p:nvPicPr>
        <p:blipFill>
          <a:blip r:embed="rId2"/>
          <a:stretch/>
        </p:blipFill>
        <p:spPr>
          <a:xfrm>
            <a:off x="9852480" y="1233360"/>
            <a:ext cx="1510920" cy="9511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Cliquez pour éditer le format du texte-titre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5856120" cy="685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Lato"/>
              </a:rPr>
              <a:t>Cliquez pour éditer le format du plan de texte</a:t>
            </a:r>
            <a:endParaRPr b="0" lang="en-US" sz="28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Second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Troisième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Quatrième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767840" y="994320"/>
            <a:ext cx="4451760" cy="12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700" spc="-1" strike="noStrike">
                <a:solidFill>
                  <a:schemeClr val="dk1"/>
                </a:solidFill>
                <a:latin typeface="Montserrat"/>
              </a:rPr>
              <a:t>Write Project Tittle Here</a:t>
            </a:r>
            <a:endParaRPr b="0" lang="en-US" sz="3700" spc="-1" strike="noStrike">
              <a:solidFill>
                <a:schemeClr val="dk1"/>
              </a:solidFill>
              <a:latin typeface="Lato"/>
            </a:endParaRPr>
          </a:p>
        </p:txBody>
      </p:sp>
      <p:pic>
        <p:nvPicPr>
          <p:cNvPr id="7" name="Image 3" descr=""/>
          <p:cNvPicPr/>
          <p:nvPr/>
        </p:nvPicPr>
        <p:blipFill>
          <a:blip r:embed="rId2"/>
          <a:stretch/>
        </p:blipFill>
        <p:spPr>
          <a:xfrm>
            <a:off x="11143440" y="609840"/>
            <a:ext cx="538560" cy="3348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202c4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938760" y="1699200"/>
            <a:ext cx="4314240" cy="12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700" spc="-1" strike="noStrike">
                <a:solidFill>
                  <a:schemeClr val="lt1"/>
                </a:solidFill>
                <a:latin typeface="Montserrat"/>
              </a:rPr>
              <a:t>Write Project Tittle Here</a:t>
            </a:r>
            <a:endParaRPr b="0" lang="en-US" sz="37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0" y="1117440"/>
            <a:ext cx="3015000" cy="46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8203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Lato"/>
              </a:rPr>
              <a:t>Cliquez pour éditer le format du plan de texte</a:t>
            </a:r>
            <a:endParaRPr b="0" lang="en-US" sz="28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Second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Troisième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Quatrième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9176760" y="1117440"/>
            <a:ext cx="3015000" cy="46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8203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Lato"/>
              </a:rPr>
              <a:t>Cliquez pour éditer le format du plan de texte</a:t>
            </a:r>
            <a:endParaRPr b="0" lang="en-US" sz="28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Second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Troisième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Quatrième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0"/>
          <p:cNvSpPr/>
          <p:nvPr/>
        </p:nvSpPr>
        <p:spPr>
          <a:xfrm>
            <a:off x="9550440" y="0"/>
            <a:ext cx="2641320" cy="6857640"/>
          </a:xfrm>
          <a:prstGeom prst="rect">
            <a:avLst/>
          </a:prstGeom>
          <a:solidFill>
            <a:srgbClr val="e7461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250200" y="228600"/>
            <a:ext cx="11691000" cy="6400440"/>
          </a:xfrm>
          <a:prstGeom prst="rect">
            <a:avLst/>
          </a:prstGeom>
          <a:solidFill>
            <a:srgbClr val="202c4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36840" y="2374920"/>
            <a:ext cx="3733560" cy="191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700" spc="-1" strike="noStrike">
                <a:solidFill>
                  <a:schemeClr val="lt1"/>
                </a:solidFill>
                <a:latin typeface="Montserrat"/>
              </a:rPr>
              <a:t>Write Project Tittle Here</a:t>
            </a:r>
            <a:endParaRPr b="0" lang="en-US" sz="37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Lato"/>
              </a:rPr>
              <a:t>Cliquez pour éditer le format du plan de texte</a:t>
            </a:r>
            <a:endParaRPr b="0" lang="en-US" sz="28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Second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Troisième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Quatrième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Cliquez pour éditer le format du texte-titre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Lato"/>
              </a:rPr>
              <a:t>Cliquez pour éditer le format du plan de texte</a:t>
            </a:r>
            <a:endParaRPr b="0" lang="en-US" sz="28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Second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Troisième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Quatrième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0598400" y="6052680"/>
            <a:ext cx="996120" cy="303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 algn="r"/>
            <a:fld id="{52F3731E-04D5-47D4-A7D6-28C29A821282}" type="slidenum">
              <a:rPr b="0" lang="en-US" sz="1400" spc="-1" strike="noStrike">
                <a:solidFill>
                  <a:srgbClr val="000000"/>
                </a:solidFill>
                <a:latin typeface="Lato"/>
              </a:rPr>
              <a:t>&lt;numéro&gt;</a:t>
            </a:fld>
            <a:endParaRPr b="0" lang="en-US" sz="14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body"/>
          </p:nvPr>
        </p:nvSpPr>
        <p:spPr>
          <a:xfrm>
            <a:off x="5228640" y="1617840"/>
            <a:ext cx="3539880" cy="523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550" lnSpcReduction="1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Lato"/>
              </a:rPr>
              <a:t>Cliquez pour éditer le format du plan de texte</a:t>
            </a:r>
            <a:endParaRPr b="0" lang="en-US" sz="28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Second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Troisième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Quatrième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title"/>
          </p:nvPr>
        </p:nvSpPr>
        <p:spPr>
          <a:xfrm>
            <a:off x="1612800" y="1045440"/>
            <a:ext cx="4248360" cy="238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1" lang="en-US" sz="3700" spc="-1" strike="noStrike">
                <a:solidFill>
                  <a:schemeClr val="dk1"/>
                </a:solidFill>
                <a:latin typeface="Montserrat"/>
              </a:rPr>
              <a:t>Titre page</a:t>
            </a:r>
            <a:br>
              <a:rPr sz="3700"/>
            </a:br>
            <a:r>
              <a:rPr b="1" lang="en-US" sz="3700" spc="-1" strike="noStrike">
                <a:solidFill>
                  <a:schemeClr val="dk1"/>
                </a:solidFill>
                <a:latin typeface="Montserrat"/>
              </a:rPr>
              <a:t>intérieure</a:t>
            </a:r>
            <a:br>
              <a:rPr sz="3700"/>
            </a:br>
            <a:r>
              <a:rPr b="1" lang="en-US" sz="3700" spc="-1" strike="noStrike">
                <a:solidFill>
                  <a:schemeClr val="dk1"/>
                </a:solidFill>
                <a:latin typeface="Montserrat"/>
              </a:rPr>
              <a:t>texte </a:t>
            </a:r>
            <a:br>
              <a:rPr sz="3700"/>
            </a:br>
            <a:r>
              <a:rPr b="1" lang="en-US" sz="3700" spc="-1" strike="noStrike">
                <a:solidFill>
                  <a:schemeClr val="dk1"/>
                </a:solidFill>
                <a:latin typeface="Montserrat"/>
              </a:rPr>
              <a:t>et photos</a:t>
            </a:r>
            <a:endParaRPr b="0" lang="en-US" sz="37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9142560" y="0"/>
            <a:ext cx="2133360" cy="267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497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Lato"/>
              </a:rPr>
              <a:t>Cliquez pour éditer le format du plan de texte</a:t>
            </a:r>
            <a:endParaRPr b="0" lang="en-US" sz="28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Second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Troisième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Quatrième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9142560" y="2925000"/>
            <a:ext cx="2133360" cy="267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2497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Lato"/>
              </a:rPr>
              <a:t>Cliquez pour éditer le format du plan de texte</a:t>
            </a:r>
            <a:endParaRPr b="0" lang="en-US" sz="28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Second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Troisième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Quatrième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0"/>
          <p:cNvSpPr/>
          <p:nvPr/>
        </p:nvSpPr>
        <p:spPr>
          <a:xfrm>
            <a:off x="9550440" y="0"/>
            <a:ext cx="2641320" cy="6857640"/>
          </a:xfrm>
          <a:prstGeom prst="rect">
            <a:avLst/>
          </a:prstGeom>
          <a:solidFill>
            <a:srgbClr val="e7461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4" name="Rectangle 11"/>
          <p:cNvSpPr/>
          <p:nvPr/>
        </p:nvSpPr>
        <p:spPr>
          <a:xfrm>
            <a:off x="250200" y="228600"/>
            <a:ext cx="11691000" cy="6400440"/>
          </a:xfrm>
          <a:prstGeom prst="rect">
            <a:avLst/>
          </a:prstGeom>
          <a:solidFill>
            <a:srgbClr val="202c4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36840" y="2374920"/>
            <a:ext cx="3733560" cy="191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700" spc="-1" strike="noStrike">
                <a:solidFill>
                  <a:schemeClr val="lt1"/>
                </a:solidFill>
                <a:latin typeface="Montserrat"/>
              </a:rPr>
              <a:t>Write Project Tittle Here</a:t>
            </a:r>
            <a:endParaRPr b="0" lang="en-US" sz="37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Lato"/>
              </a:rPr>
              <a:t>Cliquez pour éditer le format du plan de texte</a:t>
            </a:r>
            <a:endParaRPr b="0" lang="en-US" sz="2800" spc="-1" strike="noStrike">
              <a:solidFill>
                <a:schemeClr val="dk1"/>
              </a:solidFill>
              <a:latin typeface="Lato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Second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Troisième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o"/>
              </a:rPr>
              <a:t>Quatrième niveau de plan</a:t>
            </a:r>
            <a:endParaRPr b="0" lang="en-US" sz="1800" spc="-1" strike="noStrike">
              <a:solidFill>
                <a:schemeClr val="dk1"/>
              </a:solidFill>
              <a:latin typeface="Lato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o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atthias.grenie@univ-grenoble-alpes.fr" TargetMode="External"/><Relationship Id="rId2" Type="http://schemas.openxmlformats.org/officeDocument/2006/relationships/image" Target="../media/image3.png"/><Relationship Id="rId3" Type="http://schemas.openxmlformats.org/officeDocument/2006/relationships/hyperlink" Target="https://www.navigart.fr/grenoble/artwork/charles-bertier-le-neron-pres-de-proveyzieux-60000000267216" TargetMode="External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s://chaire-bea.vetagro-sup.fr/la-proportion-de-personnes-adoptant-des-regimes-sans-viande-est-de-plus-en-plus-importante-vrai-ou-faux/" TargetMode="Externa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riangle 2"/>
          <p:cNvSpPr/>
          <p:nvPr/>
        </p:nvSpPr>
        <p:spPr>
          <a:xfrm>
            <a:off x="2342160" y="646560"/>
            <a:ext cx="1508760" cy="1300320"/>
          </a:xfrm>
          <a:prstGeom prst="triangle">
            <a:avLst>
              <a:gd name="adj" fmla="val 50000"/>
            </a:avLst>
          </a:prstGeom>
          <a:solidFill>
            <a:srgbClr val="ef7db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8" name="Triangle 3"/>
          <p:cNvSpPr/>
          <p:nvPr/>
        </p:nvSpPr>
        <p:spPr>
          <a:xfrm rot="10800000">
            <a:off x="2342520" y="1947960"/>
            <a:ext cx="1508760" cy="1300320"/>
          </a:xfrm>
          <a:prstGeom prst="triangle">
            <a:avLst>
              <a:gd name="adj" fmla="val 50000"/>
            </a:avLst>
          </a:prstGeom>
          <a:solidFill>
            <a:srgbClr val="e64513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29" name="Triangle 4"/>
          <p:cNvSpPr/>
          <p:nvPr/>
        </p:nvSpPr>
        <p:spPr>
          <a:xfrm rot="10800000">
            <a:off x="1587960" y="3248640"/>
            <a:ext cx="1508760" cy="1300320"/>
          </a:xfrm>
          <a:prstGeom prst="triangle">
            <a:avLst>
              <a:gd name="adj" fmla="val 50000"/>
            </a:avLst>
          </a:prstGeom>
          <a:solidFill>
            <a:srgbClr val="edd10e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0" name="Triangle 5"/>
          <p:cNvSpPr/>
          <p:nvPr/>
        </p:nvSpPr>
        <p:spPr>
          <a:xfrm rot="10800000">
            <a:off x="3097080" y="3248640"/>
            <a:ext cx="1508760" cy="1300320"/>
          </a:xfrm>
          <a:prstGeom prst="triangle">
            <a:avLst>
              <a:gd name="adj" fmla="val 50000"/>
            </a:avLst>
          </a:prstGeom>
          <a:solidFill>
            <a:srgbClr val="858324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1" name="Triangle 6"/>
          <p:cNvSpPr/>
          <p:nvPr/>
        </p:nvSpPr>
        <p:spPr>
          <a:xfrm rot="10800000">
            <a:off x="2342520" y="4549680"/>
            <a:ext cx="1508760" cy="1300320"/>
          </a:xfrm>
          <a:prstGeom prst="triangle">
            <a:avLst>
              <a:gd name="adj" fmla="val 50000"/>
            </a:avLst>
          </a:prstGeom>
          <a:solidFill>
            <a:srgbClr val="e64513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fr-FR" sz="1800" spc="-1" strike="noStrike">
                <a:solidFill>
                  <a:schemeClr val="lt1"/>
                </a:solidFill>
                <a:latin typeface="Lato"/>
              </a:rPr>
              <a:t> </a:t>
            </a:r>
            <a:endParaRPr b="0" lang="en-US" sz="1800" spc="-1" strike="noStrike">
              <a:solidFill>
                <a:srgbClr val="ffffff"/>
              </a:solidFill>
              <a:latin typeface="Lato"/>
            </a:endParaRPr>
          </a:p>
        </p:txBody>
      </p:sp>
      <p:sp>
        <p:nvSpPr>
          <p:cNvPr id="32" name="Triangle 7"/>
          <p:cNvSpPr/>
          <p:nvPr/>
        </p:nvSpPr>
        <p:spPr>
          <a:xfrm rot="10800000">
            <a:off x="833400" y="1947960"/>
            <a:ext cx="1508760" cy="130032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Lato"/>
            </a:endParaRPr>
          </a:p>
        </p:txBody>
      </p:sp>
      <p:sp>
        <p:nvSpPr>
          <p:cNvPr id="33" name="ZoneTexte 10"/>
          <p:cNvSpPr/>
          <p:nvPr/>
        </p:nvSpPr>
        <p:spPr>
          <a:xfrm>
            <a:off x="5691240" y="2354760"/>
            <a:ext cx="58208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fr-FR" sz="3000" spc="-1" strike="noStrike">
                <a:solidFill>
                  <a:schemeClr val="lt1"/>
                </a:solidFill>
                <a:latin typeface="Verdana"/>
                <a:ea typeface="Verdana"/>
              </a:rPr>
              <a:t>Cours 2 :</a:t>
            </a:r>
            <a:br>
              <a:rPr sz="3000"/>
            </a:br>
            <a:r>
              <a:rPr b="1" lang="fr-FR" sz="3000" spc="-1" strike="noStrike">
                <a:solidFill>
                  <a:schemeClr val="lt1"/>
                </a:solidFill>
                <a:latin typeface="Verdana"/>
                <a:ea typeface="Verdana"/>
              </a:rPr>
              <a:t>Tests d’ajustement et d’indépendance</a:t>
            </a:r>
            <a:endParaRPr b="0" lang="en-US" sz="3000" spc="-1" strike="noStrike">
              <a:solidFill>
                <a:srgbClr val="ffffff"/>
              </a:solidFill>
              <a:latin typeface="Lato"/>
            </a:endParaRPr>
          </a:p>
        </p:txBody>
      </p:sp>
      <p:sp>
        <p:nvSpPr>
          <p:cNvPr id="34" name="ZoneTexte 11"/>
          <p:cNvSpPr/>
          <p:nvPr/>
        </p:nvSpPr>
        <p:spPr>
          <a:xfrm>
            <a:off x="4500000" y="4444920"/>
            <a:ext cx="6998040" cy="16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fr-FR" sz="2000" spc="-1" strike="noStrike">
                <a:solidFill>
                  <a:srgbClr val="e64513"/>
                </a:solidFill>
                <a:latin typeface="Verdana"/>
                <a:ea typeface="Verdana"/>
              </a:rPr>
              <a:t> </a:t>
            </a:r>
            <a:r>
              <a:rPr b="0" lang="fr-FR" sz="2000" spc="-1" strike="noStrike">
                <a:solidFill>
                  <a:srgbClr val="e64513"/>
                </a:solidFill>
                <a:latin typeface="Verdana"/>
                <a:ea typeface="Verdana"/>
              </a:rPr>
              <a:t>	</a:t>
            </a:r>
            <a:r>
              <a:rPr b="0" lang="fr-FR" sz="2000" spc="-1" strike="noStrike">
                <a:solidFill>
                  <a:srgbClr val="e64513"/>
                </a:solidFill>
                <a:latin typeface="Verdana"/>
                <a:ea typeface="Verdana"/>
              </a:rPr>
              <a:t>MCBT1U16</a:t>
            </a:r>
            <a:endParaRPr b="0" lang="en-US" sz="2000" spc="-1" strike="noStrike">
              <a:solidFill>
                <a:srgbClr val="ffffff"/>
              </a:solidFill>
              <a:latin typeface="Lato"/>
            </a:endParaRPr>
          </a:p>
          <a:p>
            <a:pPr algn="r" defTabSz="914400">
              <a:lnSpc>
                <a:spcPct val="100000"/>
              </a:lnSpc>
            </a:pPr>
            <a:r>
              <a:rPr b="0" lang="fr-FR" sz="2000" spc="-1" strike="noStrike">
                <a:solidFill>
                  <a:srgbClr val="e64513"/>
                </a:solidFill>
                <a:latin typeface="Verdana"/>
                <a:ea typeface="Verdana"/>
              </a:rPr>
              <a:t>Mathématiques / Statistiques 2</a:t>
            </a:r>
            <a:endParaRPr b="0" lang="en-US" sz="2000" spc="-1" strike="noStrike">
              <a:solidFill>
                <a:srgbClr val="ffffff"/>
              </a:solidFill>
              <a:latin typeface="Lato"/>
            </a:endParaRPr>
          </a:p>
          <a:p>
            <a:pPr algn="r" defTabSz="914400">
              <a:lnSpc>
                <a:spcPct val="100000"/>
              </a:lnSpc>
            </a:pPr>
            <a:r>
              <a:rPr b="0" lang="fr-FR" sz="2000" spc="-1" strike="noStrike">
                <a:solidFill>
                  <a:srgbClr val="e64513"/>
                </a:solidFill>
                <a:latin typeface="Verdana"/>
                <a:ea typeface="Verdana"/>
              </a:rPr>
              <a:t>L1 Biotechnologie S2 − 2024-2025</a:t>
            </a:r>
            <a:br>
              <a:rPr sz="2000"/>
            </a:br>
            <a:r>
              <a:rPr b="1" lang="fr-FR" sz="2000" spc="-1" strike="noStrike">
                <a:solidFill>
                  <a:srgbClr val="e64513"/>
                </a:solidFill>
                <a:latin typeface="Verdana"/>
                <a:ea typeface="Verdana"/>
              </a:rPr>
              <a:t>Matthias Grenié</a:t>
            </a:r>
            <a:br>
              <a:rPr sz="2000"/>
            </a:br>
            <a:r>
              <a:rPr b="0" lang="fr-FR" sz="2000" spc="-1" strike="noStrike">
                <a:solidFill>
                  <a:srgbClr val="e64513"/>
                </a:solidFill>
                <a:latin typeface="Verdana"/>
                <a:ea typeface="Verdana"/>
              </a:rPr>
              <a:t>(</a:t>
            </a:r>
            <a:r>
              <a:rPr b="0" lang="fr-FR" sz="2000" spc="-1" strike="noStrike" u="sng">
                <a:solidFill>
                  <a:srgbClr val="e64513"/>
                </a:solidFill>
                <a:uFillTx/>
                <a:latin typeface="Verdana"/>
                <a:ea typeface="Verdana"/>
                <a:hlinkClick r:id="rId1"/>
              </a:rPr>
              <a:t>matthias.grenie@univ-grenoble-alpes.fr</a:t>
            </a:r>
            <a:r>
              <a:rPr b="0" lang="fr-FR" sz="2000" spc="-1" strike="noStrike">
                <a:solidFill>
                  <a:srgbClr val="e64513"/>
                </a:solidFill>
                <a:latin typeface="Verdana"/>
                <a:ea typeface="Verdana"/>
              </a:rPr>
              <a:t>)</a:t>
            </a:r>
            <a:endParaRPr b="0" lang="en-US" sz="2000" spc="-1" strike="noStrike">
              <a:solidFill>
                <a:srgbClr val="ffffff"/>
              </a:solidFill>
              <a:latin typeface="Lato"/>
            </a:endParaRPr>
          </a:p>
        </p:txBody>
      </p:sp>
      <p:sp>
        <p:nvSpPr>
          <p:cNvPr id="35" name="Rectangle 12"/>
          <p:cNvSpPr/>
          <p:nvPr/>
        </p:nvSpPr>
        <p:spPr>
          <a:xfrm>
            <a:off x="11093400" y="4268160"/>
            <a:ext cx="290520" cy="45360"/>
          </a:xfrm>
          <a:prstGeom prst="rect">
            <a:avLst/>
          </a:prstGeom>
          <a:solidFill>
            <a:srgbClr val="e64513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22680" bIns="22680" anchor="ctr">
            <a:noAutofit/>
          </a:bodyPr>
          <a:p>
            <a:endParaRPr b="0" lang="fr-FR" sz="1800" spc="-1" strike="noStrike">
              <a:solidFill>
                <a:schemeClr val="lt1"/>
              </a:solidFill>
              <a:latin typeface="Lato"/>
            </a:endParaRPr>
          </a:p>
        </p:txBody>
      </p:sp>
      <p:pic>
        <p:nvPicPr>
          <p:cNvPr id="36" name="" descr=""/>
          <p:cNvPicPr/>
          <p:nvPr/>
        </p:nvPicPr>
        <p:blipFill>
          <a:blip r:embed="rId2"/>
          <a:stretch/>
        </p:blipFill>
        <p:spPr>
          <a:xfrm>
            <a:off x="238320" y="1394280"/>
            <a:ext cx="6305040" cy="4167720"/>
          </a:xfrm>
          <a:prstGeom prst="rect">
            <a:avLst/>
          </a:prstGeom>
          <a:ln w="0">
            <a:noFill/>
          </a:ln>
        </p:spPr>
      </p:pic>
      <p:sp>
        <p:nvSpPr>
          <p:cNvPr id="37" name=""/>
          <p:cNvSpPr txBox="1"/>
          <p:nvPr/>
        </p:nvSpPr>
        <p:spPr>
          <a:xfrm>
            <a:off x="292680" y="5588640"/>
            <a:ext cx="5815440" cy="241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800" spc="-1" strike="noStrike">
                <a:solidFill>
                  <a:srgbClr val="ffffff"/>
                </a:solidFill>
                <a:latin typeface="Lato"/>
              </a:rPr>
              <a:t>Le Néron près de Proveyzieux</a:t>
            </a:r>
            <a:r>
              <a:rPr b="0" lang="en-US" sz="1800" spc="-1" strike="noStrike">
                <a:solidFill>
                  <a:srgbClr val="ffffff"/>
                </a:solidFill>
                <a:latin typeface="Lato"/>
              </a:rPr>
              <a:t>, p</a:t>
            </a:r>
            <a:r>
              <a:rPr b="0" lang="en-US" sz="1800" spc="-1" strike="noStrike">
                <a:solidFill>
                  <a:srgbClr val="ffffff"/>
                </a:solidFill>
                <a:latin typeface="Lato"/>
              </a:rPr>
              <a:t>ar Charles BERTIER, 1887, </a:t>
            </a:r>
            <a:r>
              <a:rPr b="0" lang="en-US" sz="1800" spc="-1" strike="noStrike">
                <a:solidFill>
                  <a:srgbClr val="ff4000"/>
                </a:solidFill>
                <a:latin typeface="Lato"/>
                <a:hlinkClick r:id="rId3"/>
              </a:rPr>
              <a:t>Musée de Grenoble</a:t>
            </a:r>
            <a:r>
              <a:rPr b="0" lang="en-US" sz="1800" spc="-1" strike="noStrike">
                <a:solidFill>
                  <a:srgbClr val="ffffff"/>
                </a:solidFill>
                <a:latin typeface="Lato"/>
              </a:rPr>
              <a:t>, Domaine public. Crédits photographiques : Ville de Grenoble / Musée de Grenoble-J.L. Lacroix</a:t>
            </a:r>
            <a:endParaRPr b="0" lang="en-US" sz="1800" spc="-1" strike="noStrike">
              <a:solidFill>
                <a:srgbClr val="ffffff"/>
              </a:solidFill>
              <a:latin typeface="Lato"/>
            </a:endParaRPr>
          </a:p>
          <a:p>
            <a:endParaRPr b="0" lang="en-US" sz="1800" spc="-1" strike="noStrike">
              <a:solidFill>
                <a:srgbClr val="ffffff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50680" y="3061080"/>
            <a:ext cx="10849320" cy="73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4102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Qu’avons-nous vu à la séance précédente ?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50680" y="1064160"/>
            <a:ext cx="9567720" cy="179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Aujourd’hui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20000" y="2052360"/>
            <a:ext cx="9900000" cy="30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Principe des tests d’ajustements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Test d’ajustement de Kolmogorov-Smirnov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Test du 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χ²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d’ajustement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Test du χ² d’homogénéité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Test 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du χ² d’indépendance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71400" y="2828520"/>
            <a:ext cx="10849320" cy="120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Tests d’ajustements</a:t>
            </a:r>
            <a:br>
              <a:rPr sz="4000"/>
            </a:b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pour une variable continue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9567720" cy="179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Principe des tests d’ajustement (ou d’adéquation)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955440" y="1728360"/>
            <a:ext cx="10281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On cherche à savoir si </a:t>
            </a: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nos données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se </a:t>
            </a: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distribuent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selon une </a:t>
            </a: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distribution attendue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955800" y="2808360"/>
            <a:ext cx="13525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Exemple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208160" y="3456360"/>
            <a:ext cx="601956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La taille des étudiant⋅es de Licence Biotechnologies suit-elle une loi normale ?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7608960" y="2418480"/>
            <a:ext cx="4000320" cy="2666880"/>
          </a:xfrm>
          <a:prstGeom prst="rect">
            <a:avLst/>
          </a:prstGeom>
          <a:ln w="0">
            <a:noFill/>
          </a:ln>
        </p:spPr>
      </p:pic>
      <p:sp>
        <p:nvSpPr>
          <p:cNvPr id="47" name=""/>
          <p:cNvSpPr txBox="1"/>
          <p:nvPr/>
        </p:nvSpPr>
        <p:spPr>
          <a:xfrm>
            <a:off x="2206800" y="5318280"/>
            <a:ext cx="777852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Quel test connaissez-vous pour répondre à cette question ?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2207160" y="5976720"/>
            <a:ext cx="777852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Le test de </a:t>
            </a: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Shapiro-Wilk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est un </a:t>
            </a: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test d’ajustement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aussi !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10671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Rappels sur le test de Shapiro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53400" y="2323800"/>
            <a:ext cx="5407920" cy="33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Test de Shapiro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Hypothèses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</a:rPr>
              <a:t>0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: L’échantillon suit une loi normale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</a:rPr>
              <a:t>1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: l’échantillon ne suit pas une loi normale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→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veut souvent ne pas rejeter 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</a:rPr>
              <a:t>0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→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fonction sur R </a:t>
            </a: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shapiro.test()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09600" y="1318680"/>
            <a:ext cx="1157256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Exemple :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taille de 12 étudiantes = 157, 169, 152, 166, 160, 166, 158, 154, 168, 158, 163, 161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541560" y="2942280"/>
            <a:ext cx="5251680" cy="176436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000000"/>
                </a:solidFill>
                <a:latin typeface="Consolas"/>
                <a:ea typeface="Liberation Mono;Courier New;DejaVu Sans Mono;Lucida Sans Typewriter"/>
              </a:rPr>
              <a:t>&gt; shapiro.test(tailles_femmes)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1" lang="en-US" sz="2200" spc="-1" strike="noStrike">
                <a:solidFill>
                  <a:srgbClr val="000000"/>
                </a:solidFill>
                <a:latin typeface="Consolas"/>
                <a:ea typeface="Liberation Mono;Courier New;DejaVu Sans Mono;Lucida Sans Typewriter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  <a:ea typeface="Liberation Mono;Courier New;DejaVu Sans Mono;Lucida Sans Typewriter"/>
              </a:rPr>
              <a:t>Shapiro-Wilk normality test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Consolas"/>
                <a:ea typeface="Liberation Mono;Courier New;DejaVu Sans Mono;Lucida Sans Typewriter"/>
              </a:rPr>
              <a:t>data:  tailles_femmes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Consolas"/>
                <a:ea typeface="Liberation Mono;Courier New;DejaVu Sans Mono;Lucida Sans Typewriter"/>
              </a:rPr>
              <a:t>W = 0.95827, p-value = 0.7589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6833880" y="2662560"/>
            <a:ext cx="3963600" cy="408240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10671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4102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Rappels sur le diagramme quantile-quantile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09600" y="1318680"/>
            <a:ext cx="1157256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Exemple :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taille de 12 étudiantes = 157, 169, 152, 166, 160, 166, 158, 154, 168, 158, 163, 161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92680" y="1893960"/>
            <a:ext cx="5824080" cy="378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On reporte chaque valeur sur l’axe </a:t>
            </a:r>
            <a:r>
              <a:rPr b="1" i="1" lang="en-US" sz="1800" spc="-1" strike="noStrike">
                <a:solidFill>
                  <a:srgbClr val="000000"/>
                </a:solidFill>
                <a:latin typeface="Lato"/>
              </a:rPr>
              <a:t>y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On calcule un nombre égal de quantiles équitablement répartis à partir d’une loi normale centrée réduite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(moyenne = 0, écart-type = 1)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→ donne la valeur sur l’axe </a:t>
            </a:r>
            <a:r>
              <a:rPr b="1" i="1" lang="en-US" sz="1800" spc="-1" strike="noStrike">
                <a:solidFill>
                  <a:srgbClr val="000000"/>
                </a:solidFill>
                <a:latin typeface="Lato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On représente tous ces points</a:t>
            </a:r>
            <a:endParaRPr b="0" lang="en-US" sz="18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→ </a:t>
            </a:r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On obtient une ligne</a:t>
            </a:r>
            <a:endParaRPr b="0" lang="en-US" sz="18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→ </a:t>
            </a:r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si c’est une droite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     notre échantillon suit une loi normale</a:t>
            </a:r>
            <a:endParaRPr b="0" lang="en-US" sz="18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841360" y="1893960"/>
            <a:ext cx="5824080" cy="378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12 points = 12 quantiles équitablement répartis</a:t>
            </a:r>
            <a:endParaRPr b="0" lang="en-US" sz="18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Lato"/>
              </a:rPr>
              <a:t>Premier point = calcul du quantile à 4,17% = -1,73</a:t>
            </a:r>
            <a:endParaRPr b="0" lang="en-US" sz="18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837120" y="6213960"/>
            <a:ext cx="902160" cy="46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c9211e"/>
                </a:solidFill>
                <a:latin typeface="Lato"/>
              </a:rPr>
              <a:t>-1,73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441120" y="5745960"/>
            <a:ext cx="902160" cy="46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200" spc="-1" strike="noStrike">
                <a:solidFill>
                  <a:srgbClr val="2a6099"/>
                </a:solidFill>
                <a:latin typeface="Lato"/>
              </a:rPr>
              <a:t>152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80280" y="5620320"/>
            <a:ext cx="3603600" cy="64836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qqnorm(tailles_femmes)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qqline(tailles_femmes)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95677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8418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Plus général que le test de Shapiro-Wilk :</a:t>
            </a:r>
            <a:br>
              <a:rPr sz="4000"/>
            </a:b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le test de Kolmogorov-Smirnov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99920" y="1492200"/>
            <a:ext cx="10023480" cy="41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On cherche à comparer la 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distribution de notre échantillon</a:t>
            </a: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 à une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 distribution théorique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160280" y="2068560"/>
            <a:ext cx="1148040" cy="41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Principe 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40280" y="2752560"/>
            <a:ext cx="10023480" cy="2900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Aft>
                <a:spcPts val="2551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On calcule la 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fonction de répartition</a:t>
            </a: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 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empirique</a:t>
            </a: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 de notre échantillon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marL="216000" indent="-216000">
              <a:lnSpc>
                <a:spcPct val="100000"/>
              </a:lnSpc>
              <a:spcAft>
                <a:spcPts val="2551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On utilise la 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fonction de répartition</a:t>
            </a: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 de la loi 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théorique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marL="216000" indent="-216000">
              <a:lnSpc>
                <a:spcPct val="100000"/>
              </a:lnSpc>
              <a:spcAft>
                <a:spcPts val="2551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On compare les deux fonctions de répartition</a:t>
            </a:r>
            <a:br>
              <a:rPr sz="2000"/>
            </a:b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en calculant l’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écart maximum observé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marL="216000" indent="-216000">
              <a:lnSpc>
                <a:spcPct val="100000"/>
              </a:lnSpc>
              <a:spcAft>
                <a:spcPts val="2551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Si l’écart est grand → 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distribution</a:t>
            </a: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 empirique 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différente</a:t>
            </a:r>
            <a:br>
              <a:rPr sz="2000"/>
            </a:b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Sinon → 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distribution</a:t>
            </a: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 empirique </a:t>
            </a: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conforme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8192520" y="2866680"/>
            <a:ext cx="3534840" cy="2913120"/>
          </a:xfrm>
          <a:prstGeom prst="rect">
            <a:avLst/>
          </a:prstGeom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66" name=""/>
              <p:cNvSpPr txBox="1"/>
              <p:nvPr/>
            </p:nvSpPr>
            <p:spPr>
              <a:xfrm>
                <a:off x="6172920" y="6059520"/>
                <a:ext cx="1842840" cy="335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</m:e>
                    </m:d>
                    <m:r>
                      <m:t xml:space="preserve">=</m:t>
                    </m:r>
                    <m:r>
                      <m:t xml:space="preserve">P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  <m:r>
                          <m:t xml:space="preserve">≤</m:t>
                        </m:r>
                        <m:r>
                          <m:t xml:space="preserve">x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67" name=""/>
          <p:cNvSpPr txBox="1"/>
          <p:nvPr/>
        </p:nvSpPr>
        <p:spPr>
          <a:xfrm>
            <a:off x="2960640" y="6028920"/>
            <a:ext cx="280908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Fonction de répartition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115560" y="1830600"/>
            <a:ext cx="7353000" cy="488592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Point sur la fonction de répartition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grpSp>
        <p:nvGrpSpPr>
          <p:cNvPr id="70" name=""/>
          <p:cNvGrpSpPr/>
          <p:nvPr/>
        </p:nvGrpSpPr>
        <p:grpSpPr>
          <a:xfrm>
            <a:off x="3028320" y="1094760"/>
            <a:ext cx="6135120" cy="703080"/>
            <a:chOff x="3028320" y="1094760"/>
            <a:chExt cx="6135120" cy="703080"/>
          </a:xfrm>
        </p:grpSpPr>
        <mc:AlternateContent>
          <mc:Choice xmlns:a14="http://schemas.microsoft.com/office/drawing/2010/main" Requires="a14">
            <p:sp>
              <p:nvSpPr>
                <p:cNvPr id="71" name=""/>
                <p:cNvSpPr txBox="1"/>
                <p:nvPr/>
              </p:nvSpPr>
              <p:spPr>
                <a:xfrm>
                  <a:off x="7320600" y="1269360"/>
                  <a:ext cx="1842840" cy="33552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F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m:t xml:space="preserve">x</m:t>
                          </m:r>
                        </m:e>
                      </m:d>
                      <m:r>
                        <m:t xml:space="preserve">=</m:t>
                      </m:r>
                      <m:r>
                        <m:t xml:space="preserve">P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m:t xml:space="preserve">X</m:t>
                          </m:r>
                          <m:r>
                            <m:t xml:space="preserve">≤</m:t>
                          </m:r>
                          <m:r>
                            <m:t xml:space="preserve">x</m:t>
                          </m:r>
                        </m:e>
                      </m:d>
                    </m:oMath>
                  </a14:m>
                </a:p>
              </p:txBody>
            </p:sp>
          </mc:Choice>
          <mc:Fallback/>
        </mc:AlternateContent>
        <p:sp>
          <p:nvSpPr>
            <p:cNvPr id="72" name=""/>
            <p:cNvSpPr txBox="1"/>
            <p:nvPr/>
          </p:nvSpPr>
          <p:spPr>
            <a:xfrm>
              <a:off x="3028320" y="1094760"/>
              <a:ext cx="3212280" cy="7030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spcAft>
                  <a:spcPts val="2551"/>
                </a:spcAft>
              </a:pPr>
              <a:r>
                <a:rPr b="1" lang="en-US" sz="2000" spc="-1" strike="noStrike">
                  <a:solidFill>
                    <a:srgbClr val="1c1c1c"/>
                  </a:solidFill>
                  <a:latin typeface="Lato"/>
                  <a:ea typeface="Lato"/>
                </a:rPr>
                <a:t>Fonction de répartition</a:t>
              </a:r>
              <a:br>
                <a:rPr sz="2000"/>
              </a:br>
              <a:r>
                <a:rPr b="0" lang="en-US" sz="2000" spc="-1" strike="noStrike">
                  <a:solidFill>
                    <a:srgbClr val="1c1c1c"/>
                  </a:solidFill>
                  <a:latin typeface="Lato"/>
                  <a:ea typeface="Lato"/>
                </a:rPr>
                <a:t>(définition mathématique)</a:t>
              </a:r>
              <a:endParaRPr b="0" lang="en-US" sz="2000" spc="-1" strike="noStrike">
                <a:solidFill>
                  <a:srgbClr val="000000"/>
                </a:solidFill>
                <a:latin typeface="Lato"/>
              </a:endParaRPr>
            </a:p>
          </p:txBody>
        </p:sp>
      </p:grpSp>
      <p:sp>
        <p:nvSpPr>
          <p:cNvPr id="73" name=""/>
          <p:cNvSpPr txBox="1"/>
          <p:nvPr/>
        </p:nvSpPr>
        <p:spPr>
          <a:xfrm>
            <a:off x="929160" y="4190760"/>
            <a:ext cx="175212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200" spc="-1" strike="noStrike">
                <a:solidFill>
                  <a:srgbClr val="8d281e"/>
                </a:solidFill>
                <a:latin typeface="Lato"/>
              </a:rPr>
              <a:t>Probabilité de 20%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044880" y="5744880"/>
            <a:ext cx="98892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8d281e"/>
                </a:solidFill>
                <a:latin typeface="Lato"/>
              </a:rPr>
              <a:t>-0,84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023960" y="2559960"/>
            <a:ext cx="5013360" cy="322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On lit le graphique comme ceci :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Pour une loi normale centrée-réduite </a:t>
            </a:r>
            <a:r>
              <a:rPr b="0" lang="en-US" sz="2000" spc="-1" strike="noStrike">
                <a:solidFill>
                  <a:srgbClr val="8d281e"/>
                </a:solidFill>
                <a:latin typeface="Lato"/>
              </a:rPr>
              <a:t>20% des valeurs sont inférieures à -0,84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000" spc="-1" strike="noStrike">
                <a:solidFill>
                  <a:srgbClr val="2a6099"/>
                </a:solidFill>
                <a:latin typeface="Lato"/>
              </a:rPr>
              <a:t>Quelle proportion est</a:t>
            </a:r>
            <a:br>
              <a:rPr sz="2000"/>
            </a:br>
            <a:r>
              <a:rPr b="0" lang="en-US" sz="2000" spc="-1" strike="noStrike">
                <a:solidFill>
                  <a:srgbClr val="2a6099"/>
                </a:solidFill>
                <a:latin typeface="Lato"/>
              </a:rPr>
              <a:t>inférieure ou égale à 0 ?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r>
              <a:rPr b="1" lang="en-US" sz="2000" spc="-1" strike="noStrike">
                <a:solidFill>
                  <a:srgbClr val="2a6099"/>
                </a:solidFill>
                <a:latin typeface="Lato"/>
              </a:rPr>
              <a:t>50% !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76" name=""/>
          <p:cNvSpPr/>
          <p:nvPr/>
        </p:nvSpPr>
        <p:spPr>
          <a:xfrm>
            <a:off x="929160" y="4167360"/>
            <a:ext cx="3046680" cy="23400"/>
          </a:xfrm>
          <a:custGeom>
            <a:avLst/>
            <a:gdLst/>
            <a:ahLst/>
            <a:rect l="0" t="0" r="r" b="b"/>
            <a:pathLst>
              <a:path fill="none" w="8463" h="65">
                <a:moveTo>
                  <a:pt x="0" y="65"/>
                </a:moveTo>
                <a:lnTo>
                  <a:pt x="8463" y="0"/>
                </a:lnTo>
              </a:path>
            </a:pathLst>
          </a:custGeom>
          <a:ln w="29160">
            <a:solidFill>
              <a:srgbClr val="3465a4"/>
            </a:solidFill>
            <a:prstDash val="sysDash"/>
            <a:round/>
          </a:ln>
        </p:spPr>
        <p:txBody>
          <a:bodyPr lIns="104400" rIns="104400" tIns="-36000" bIns="-36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77" name=""/>
          <p:cNvSpPr/>
          <p:nvPr/>
        </p:nvSpPr>
        <p:spPr>
          <a:xfrm>
            <a:off x="3989520" y="4167720"/>
            <a:ext cx="0" cy="1577520"/>
          </a:xfrm>
          <a:custGeom>
            <a:avLst/>
            <a:gdLst/>
            <a:ahLst/>
            <a:rect l="0" t="0" r="r" b="b"/>
            <a:pathLst>
              <a:path fill="none" w="0" h="4382">
                <a:moveTo>
                  <a:pt x="0" y="4382"/>
                </a:moveTo>
                <a:lnTo>
                  <a:pt x="0" y="0"/>
                </a:lnTo>
              </a:path>
            </a:pathLst>
          </a:custGeom>
          <a:ln w="29160">
            <a:solidFill>
              <a:srgbClr val="3465a4"/>
            </a:solidFill>
            <a:prstDash val="sysDash"/>
            <a:round/>
          </a:ln>
        </p:spPr>
        <p:txBody>
          <a:bodyPr lIns="104400" rIns="104400" tIns="59400" bIns="594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3" dur="indefinite" restart="never" nodeType="tmRoot">
          <p:childTnLst>
            <p:seq>
              <p:cTn id="134" dur="indefinite" nodeType="mainSeq">
                <p:childTnLst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2"/>
          <p:cNvSpPr/>
          <p:nvPr/>
        </p:nvSpPr>
        <p:spPr>
          <a:xfrm>
            <a:off x="766440" y="2125440"/>
            <a:ext cx="9938880" cy="30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Hypothèses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</a:rPr>
              <a:t>0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: La variable suit la distribution donnée                ↔ 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</a:rPr>
              <a:t>0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: 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</a:rPr>
              <a:t>F</a:t>
            </a:r>
            <a:r>
              <a:rPr b="0" i="1" lang="en-US" sz="2200" spc="-1" strike="noStrike" baseline="-8000">
                <a:solidFill>
                  <a:srgbClr val="000000"/>
                </a:solidFill>
                <a:latin typeface="Lato"/>
              </a:rPr>
              <a:t>n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</a:rPr>
              <a:t>(x)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= 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</a:rPr>
              <a:t>F(x)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</a:rPr>
              <a:t>1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: La variable ne suit pas la distribution donnée ↔ 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</a:rPr>
              <a:t>1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: 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</a:rPr>
              <a:t>F</a:t>
            </a:r>
            <a:r>
              <a:rPr b="0" i="1" lang="en-US" sz="2200" spc="-1" strike="noStrike" baseline="-8000">
                <a:solidFill>
                  <a:srgbClr val="000000"/>
                </a:solidFill>
                <a:latin typeface="Lato"/>
              </a:rPr>
              <a:t>n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</a:rPr>
              <a:t>(x)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≠ 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</a:rPr>
              <a:t>F(x)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Avec 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</a:rPr>
              <a:t>F</a:t>
            </a:r>
            <a:r>
              <a:rPr b="0" i="1" lang="en-US" sz="2200" spc="-1" strike="noStrike" baseline="-8000">
                <a:solidFill>
                  <a:srgbClr val="000000"/>
                </a:solidFill>
                <a:latin typeface="Lato"/>
              </a:rPr>
              <a:t>n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</a:rPr>
              <a:t>(x)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la fonction de répartition de la variable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d’intérêt et 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</a:rPr>
              <a:t>F(x)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celle de la distribution théorique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Aucune condition d’application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95677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8418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d’ajustement à une distribution théorique : test de Kolmogorov-Smirnov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3" dur="indefinite" restart="never" nodeType="tmRoot">
          <p:childTnLst>
            <p:seq>
              <p:cTn id="174" dur="indefinite" nodeType="mainSeq">
                <p:childTnLst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Distributions théoriques sur R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00280" y="1132560"/>
            <a:ext cx="1002348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R contient par défaut de nombreuses distributions de probabilités pour les utiliser il faut précisier leur nom sous la forme </a:t>
            </a:r>
            <a:r>
              <a:rPr b="1" lang="en-US" sz="2000" spc="-1" strike="noStrike">
                <a:solidFill>
                  <a:srgbClr val="1c1c1c"/>
                </a:solidFill>
                <a:latin typeface="Consolas"/>
                <a:ea typeface="Lato"/>
              </a:rPr>
              <a:t>p + nom de la distribution</a:t>
            </a:r>
            <a:r>
              <a:rPr b="0" lang="en-US" sz="2000" spc="-1" strike="noStrike">
                <a:solidFill>
                  <a:srgbClr val="1c1c1c"/>
                </a:solidFill>
                <a:latin typeface="Consolas"/>
                <a:ea typeface="Lato"/>
              </a:rPr>
              <a:t>()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1797840" y="2108160"/>
            <a:ext cx="8596440" cy="437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5" dur="indefinite" restart="never" nodeType="tmRoot">
          <p:childTnLst>
            <p:seq>
              <p:cTn id="196" dur="indefinite" nodeType="mainSeq">
                <p:childTnLst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134280" y="2653560"/>
            <a:ext cx="7296120" cy="31068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&gt; # Données normales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&gt; donnees_norm = rnorm(25, mean = 4, sd = 0.5)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&gt; ks.test(donnees_norm, "pnorm", 4, 0.5)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Exact one-sample Kolmogorov-Smirnov test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data:  donnees_norm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D = 0.21487, p-value = </a:t>
            </a: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0.1714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alternative hypothesis: two-sided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7545240" y="3769560"/>
            <a:ext cx="4673160" cy="14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p &gt; alpha = 3,8%, donc, on ne peut pas rejeter 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</a:rPr>
              <a:t>0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, donc le test de Kolmogorov-Smirnov nous dit qu’elles suivent bien une loi normale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785600" y="1970280"/>
            <a:ext cx="8620560" cy="36936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ks.test(x, “loi_theorique”, parametres_de_la_loi)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51400" y="344880"/>
            <a:ext cx="95677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8418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d’ajustement à une distribution théorique : test de Kolmogorov-Smirnov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569600" y="1349280"/>
            <a:ext cx="206676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Fonction sur R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7545240" y="2869560"/>
            <a:ext cx="3227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prend alpha = 3,8%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5" dur="indefinite" restart="never" nodeType="tmRoot">
          <p:childTnLst>
            <p:seq>
              <p:cTn id="206" dur="indefinite" nodeType="mainSeq">
                <p:childTnLst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9"/>
          <p:cNvSpPr/>
          <p:nvPr/>
        </p:nvSpPr>
        <p:spPr>
          <a:xfrm>
            <a:off x="180000" y="2232000"/>
            <a:ext cx="7401600" cy="31068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&gt; # Données exponentielles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&gt; donnees_exp = rexp(25, rate = 1)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&gt; ks.test(donnees_exp, "pexp", 1)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Exact one-sample Kolmogorov-Smirnov test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data:  donnees_exp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D = 0.19495, p-value = </a:t>
            </a: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0.2621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alternative hypothesis: two-sided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0" name="TextBox 20"/>
          <p:cNvSpPr/>
          <p:nvPr/>
        </p:nvSpPr>
        <p:spPr>
          <a:xfrm>
            <a:off x="7668000" y="2412000"/>
            <a:ext cx="4664160" cy="25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prend alpha = 3,8% = 0,038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observe p &gt; alpha, donc, on ne peut pas rejeter H0, donc le test de Kolmogorov-Smirnov nous dit que notre échantillon suit bien une loi exponentielle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51400" y="344880"/>
            <a:ext cx="95677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8418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d’ajustement à une distribution théorique : test de Kolmogorov-Smirnov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3" dur="indefinite" restart="never" nodeType="tmRoot">
          <p:childTnLst>
            <p:seq>
              <p:cTn id="244" dur="indefinite" nodeType="mainSeq">
                <p:childTnLst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Limites des tests d’ajustement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93" name="TextBox 13"/>
          <p:cNvSpPr/>
          <p:nvPr/>
        </p:nvSpPr>
        <p:spPr>
          <a:xfrm>
            <a:off x="847800" y="1526040"/>
            <a:ext cx="10264680" cy="39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Pour tester la normalité il vaut mieux utiliser un test de Shapiro-Wilk plutôt qu’un test de Kolmogorov-Smirnov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Si on a beaucoup de données, il vaut mieux utiliser un diagramme quantile-quantile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Le diagramme quantile-quantile peut s’étendre à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n’importe quelle distribution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peut aussi l’utiliser pour comparer la distribution de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deux échantillons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En pratiqu, on combine les méthodes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graphique et statistique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3" dur="indefinite" restart="never" nodeType="tmRoot">
          <p:childTnLst>
            <p:seq>
              <p:cTn id="274" dur="indefinite" nodeType="mainSeq">
                <p:childTnLst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71400" y="2828520"/>
            <a:ext cx="10849320" cy="120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d’ajustement</a:t>
            </a:r>
            <a:br>
              <a:rPr sz="4000"/>
            </a:b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pour une variable catégorielle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1038680" cy="48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4783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Oui mais,… si la distribution est catégorielle ?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955800" y="1152720"/>
            <a:ext cx="13525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Exemple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208160" y="1656720"/>
            <a:ext cx="739800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Distribution des régimes alimentaires en France (</a:t>
            </a:r>
            <a:r>
              <a:rPr b="0" lang="en-US" sz="2200" spc="-1" strike="noStrike">
                <a:solidFill>
                  <a:srgbClr val="3465a4"/>
                </a:solidFill>
                <a:latin typeface="Lato"/>
                <a:ea typeface="Lato"/>
                <a:hlinkClick r:id="rId1"/>
              </a:rPr>
              <a:t>source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8892720" y="1394640"/>
            <a:ext cx="2695680" cy="4072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99" name=""/>
          <p:cNvGraphicFramePr/>
          <p:nvPr/>
        </p:nvGraphicFramePr>
        <p:xfrm>
          <a:off x="282600" y="2274480"/>
          <a:ext cx="8291880" cy="1167840"/>
        </p:xfrm>
        <a:graphic>
          <a:graphicData uri="http://schemas.openxmlformats.org/drawingml/2006/table">
            <a:tbl>
              <a:tblPr/>
              <a:tblGrid>
                <a:gridCol w="1582200"/>
                <a:gridCol w="1813320"/>
                <a:gridCol w="2525760"/>
                <a:gridCol w="2370960"/>
              </a:tblGrid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Régime alimentaire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  <a:ea typeface="Microsoft YaHei"/>
                        </a:rPr>
                        <a:t>Omnivore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🍖</a:t>
                      </a:r>
                      <a:br>
                        <a:rPr sz="2200"/>
                      </a:b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(avec viande)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  <a:ea typeface="Microsoft YaHei"/>
                        </a:rPr>
                        <a:t>Flexitarien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🍳</a:t>
                      </a:r>
                      <a:br>
                        <a:rPr sz="2200"/>
                      </a:b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(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baisse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  <a:ea typeface="Verdana"/>
                        </a:rPr>
                        <a:t> 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volontaire)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  <a:ea typeface="Microsoft YaHei"/>
                        </a:rPr>
                        <a:t>Sans viande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🥑  (végéta*iens)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Proportion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74%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23%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3%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0" name=""/>
          <p:cNvSpPr txBox="1"/>
          <p:nvPr/>
        </p:nvSpPr>
        <p:spPr>
          <a:xfrm>
            <a:off x="762120" y="3853080"/>
            <a:ext cx="774324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200 étudiant·es de Licence Biotechnologies (inventée🔮)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282960" y="4326840"/>
          <a:ext cx="8291880" cy="1167840"/>
        </p:xfrm>
        <a:graphic>
          <a:graphicData uri="http://schemas.openxmlformats.org/drawingml/2006/table">
            <a:tbl>
              <a:tblPr/>
              <a:tblGrid>
                <a:gridCol w="1582200"/>
                <a:gridCol w="1813320"/>
                <a:gridCol w="2525760"/>
                <a:gridCol w="2370960"/>
              </a:tblGrid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Régime alimentaire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Omnivore🍖</a:t>
                      </a:r>
                      <a:br>
                        <a:rPr sz="2200"/>
                      </a:b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(avec viande)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Flexitarien🍳</a:t>
                      </a:r>
                      <a:br>
                        <a:rPr sz="2200"/>
                      </a:b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(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baisse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  <a:ea typeface="Verdana"/>
                        </a:rPr>
                        <a:t> 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volontaire)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Sans viande🥑 (végéta*iens)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Nombre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140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40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" name=""/>
          <p:cNvSpPr txBox="1"/>
          <p:nvPr/>
        </p:nvSpPr>
        <p:spPr>
          <a:xfrm>
            <a:off x="424080" y="5797440"/>
            <a:ext cx="1098396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Les régimes alimentaires des étudiant·es sont-ils représentatifs de ceux en France ?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1" dur="indefinite" restart="never" nodeType="tmRoot">
          <p:childTnLst>
            <p:seq>
              <p:cTn id="292" dur="indefinite" nodeType="mainSeq">
                <p:childTnLst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du χ² (khi-deux) d’ajustement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990360" y="1117440"/>
            <a:ext cx="102114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L’objectif du test est de tester l’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adéquation d’une répartition observée (en classes)</a:t>
            </a:r>
            <a:br>
              <a:rPr sz="2200"/>
            </a:b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à une répartition théorique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05" name="TextBox 23"/>
          <p:cNvSpPr/>
          <p:nvPr/>
        </p:nvSpPr>
        <p:spPr>
          <a:xfrm>
            <a:off x="990360" y="2773440"/>
            <a:ext cx="10428480" cy="35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utilise la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répartition théorique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pour calculer les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effectifs théoriques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compare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les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 effectifs observés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aux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 effectifs théoriques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S’ils sont “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suffisamment proches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”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→ on conclut que nos données se répartissent selon la distribution théorique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S’ils sont “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suffisamment éloignées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”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→ on conclut que nos données ne se répartissent pas selon la distribution théorique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956160" y="2196720"/>
            <a:ext cx="13525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Principe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7" dur="indefinite" restart="never" nodeType="tmRoot">
          <p:childTnLst>
            <p:seq>
              <p:cTn id="318" dur="indefinite" nodeType="mainSeq">
                <p:childTnLst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du χ² (khi-deux) d’ajustement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1953720" y="2479680"/>
            <a:ext cx="8284320" cy="22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Lato"/>
                <a:ea typeface="Microsoft YaHei"/>
              </a:rPr>
              <a:t>Hypothèses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Microsoft YaHei"/>
              </a:rPr>
              <a:t>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  <a:ea typeface="Microsoft YaHei"/>
              </a:rPr>
              <a:t>0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Microsoft YaHei"/>
              </a:rPr>
              <a:t> : La répartition observée est conforme à la répartition théorique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Lato"/>
                <a:ea typeface="Microsoft YaHei"/>
              </a:rPr>
              <a:t>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  <a:ea typeface="Microsoft YaHei"/>
              </a:rPr>
              <a:t>1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Microsoft YaHei"/>
              </a:rPr>
              <a:t> : La répartition observée dévie de la répartition théorique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Condition d’application :</a:t>
            </a:r>
            <a:br>
              <a:rPr sz="2200"/>
            </a:b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Il faut que les effectifs théoriques attendus soient tous ≥ 5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3" dur="indefinite" restart="never" nodeType="tmRoot">
          <p:childTnLst>
            <p:seq>
              <p:cTn id="344" dur="indefinite" nodeType="mainSeq">
                <p:childTnLst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du χ² (khi-deux) d’ajustement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graphicFrame>
        <p:nvGraphicFramePr>
          <p:cNvPr id="110" name=""/>
          <p:cNvGraphicFramePr/>
          <p:nvPr/>
        </p:nvGraphicFramePr>
        <p:xfrm>
          <a:off x="282960" y="1648800"/>
          <a:ext cx="11213280" cy="2018880"/>
        </p:xfrm>
        <a:graphic>
          <a:graphicData uri="http://schemas.openxmlformats.org/drawingml/2006/table">
            <a:tbl>
              <a:tblPr/>
              <a:tblGrid>
                <a:gridCol w="2697840"/>
                <a:gridCol w="2838600"/>
                <a:gridCol w="2838600"/>
                <a:gridCol w="2838600"/>
              </a:tblGrid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Régime alimentaire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Omnivore🍖</a:t>
                      </a:r>
                      <a:br>
                        <a:rPr sz="2200"/>
                      </a:b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(avec viande)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Flexitarien🍳</a:t>
                      </a:r>
                      <a:br>
                        <a:rPr sz="2200"/>
                      </a:b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(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baisse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  <a:ea typeface="Verdana"/>
                        </a:rPr>
                        <a:t> 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volontaire)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Sans viande🥑 (végéta*iens)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Proportion théorique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74%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23%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3%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Effectifs théoriques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200</a:t>
                      </a:r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*0,74=148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200</a:t>
                      </a:r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*0,23=46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200</a:t>
                      </a:r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*0,03=6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Effectifs observés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140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40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1" name=""/>
          <p:cNvSpPr txBox="1"/>
          <p:nvPr/>
        </p:nvSpPr>
        <p:spPr>
          <a:xfrm>
            <a:off x="644760" y="1053360"/>
            <a:ext cx="1090260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Effectifs totaux observés = </a:t>
            </a:r>
            <a:r>
              <a:rPr b="1" lang="en-US" sz="2200" spc="-1" strike="noStrike">
                <a:solidFill>
                  <a:srgbClr val="2a6099"/>
                </a:solidFill>
                <a:latin typeface="Lato"/>
                <a:ea typeface="Lato"/>
              </a:rPr>
              <a:t>200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(étudiant·es de Licence Biotechnologies)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85120" y="3897360"/>
            <a:ext cx="413964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Calcul de la statistique du χ²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3" name=""/>
              <p:cNvSpPr txBox="1"/>
              <p:nvPr/>
            </p:nvSpPr>
            <p:spPr>
              <a:xfrm>
                <a:off x="545040" y="4438080"/>
                <a:ext cx="5670360" cy="783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χ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nary>
                      <m:naryPr>
                        <m:chr m:val="∑"/>
                        <m:supHide m:val="1"/>
                      </m:naryPr>
                      <m:sub>
                        <m:r>
                          <m:t xml:space="preserve">i</m:t>
                        </m:r>
                      </m:sub>
                      <m:sup/>
                      <m:e>
                        <m:f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endChr m:val=")"/>
                                  </m:dPr>
                                  <m:e>
                                    <m:r>
                                      <m:t xml:space="preserve">effectifs</m:t>
                                    </m:r>
                                    <m:sSub>
                                      <m:e>
                                        <m:r>
                                          <m:t xml:space="preserve">observés</m:t>
                                        </m:r>
                                      </m:e>
                                      <m:sub>
                                        <m:r>
                                          <m:t xml:space="preserve">i</m:t>
                                        </m:r>
                                      </m:sub>
                                    </m:sSub>
                                    <m:r>
                                      <m:t xml:space="preserve">−</m:t>
                                    </m:r>
                                    <m:r>
                                      <m:t xml:space="preserve">effectifs</m:t>
                                    </m:r>
                                    <m:sSub>
                                      <m:e>
                                        <m:r>
                                          <m:t xml:space="preserve">théoriques</m:t>
                                        </m:r>
                                      </m:e>
                                      <m:sub>
                                        <m:r>
                                          <m:t xml:space="preserve"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</m:num>
                          <m:den>
                            <m:r>
                              <m:t xml:space="preserve">effectifs</m:t>
                            </m:r>
                            <m:sSub>
                              <m:e>
                                <m:r>
                                  <m:t xml:space="preserve">théoriques</m:t>
                                </m:r>
                              </m:e>
                              <m:sub>
                                <m:r>
                                  <m:t xml:space="preserve">i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14" name=""/>
              <p:cNvSpPr txBox="1"/>
              <p:nvPr/>
            </p:nvSpPr>
            <p:spPr>
              <a:xfrm>
                <a:off x="562680" y="6039360"/>
                <a:ext cx="1183320" cy="359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χ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r>
                      <m:t xml:space="preserve">33.88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15" name=""/>
              <p:cNvSpPr txBox="1"/>
              <p:nvPr/>
            </p:nvSpPr>
            <p:spPr>
              <a:xfrm>
                <a:off x="900360" y="5242320"/>
                <a:ext cx="4201560" cy="720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140</m:t>
                                </m:r>
                                <m:r>
                                  <m:t xml:space="preserve">−</m:t>
                                </m:r>
                                <m:r>
                                  <m:t xml:space="preserve">148</m:t>
                                </m:r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148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40</m:t>
                                </m:r>
                                <m:r>
                                  <m:t xml:space="preserve">−</m:t>
                                </m:r>
                                <m:r>
                                  <m:t xml:space="preserve">46</m:t>
                                </m:r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46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20</m:t>
                                </m:r>
                                <m:r>
                                  <m:t xml:space="preserve">−</m:t>
                                </m:r>
                                <m:r>
                                  <m:t xml:space="preserve">6</m:t>
                                </m:r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6</m:t>
                        </m:r>
                      </m:den>
                    </m:f>
                  </m:oMath>
                </a14:m>
              </a:p>
            </p:txBody>
          </p:sp>
        </mc:Choice>
        <mc:Fallback/>
      </mc:AlternateContent>
      <p:sp>
        <p:nvSpPr>
          <p:cNvPr id="116" name=""/>
          <p:cNvSpPr txBox="1"/>
          <p:nvPr/>
        </p:nvSpPr>
        <p:spPr>
          <a:xfrm>
            <a:off x="6533640" y="4420440"/>
            <a:ext cx="5632200" cy="20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On compare cette valeur à une loi de χ² avec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3 (n. catégories) – 1 = 2 degrés de liberté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i="1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p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 = 4,4⋅10⁻⁸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17" name=""/>
          <p:cNvSpPr/>
          <p:nvPr/>
        </p:nvSpPr>
        <p:spPr>
          <a:xfrm>
            <a:off x="-119160" y="2809440"/>
            <a:ext cx="12573000" cy="440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18" name=""/>
          <p:cNvSpPr/>
          <p:nvPr/>
        </p:nvSpPr>
        <p:spPr>
          <a:xfrm>
            <a:off x="-119160" y="3253320"/>
            <a:ext cx="12573000" cy="440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7" dur="indefinite" restart="never" nodeType="tmRoot">
          <p:childTnLst>
            <p:seq>
              <p:cTn id="358" dur="indefinite" nodeType="mainSeq">
                <p:childTnLst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0240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du χ² (khi-deux) d’ajustement sur R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785600" y="1329480"/>
            <a:ext cx="8620560" cy="36936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chisq.test(x, p = proportions_theoriques)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549360" y="919800"/>
            <a:ext cx="206676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Fonction sur R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1697760" y="2161440"/>
            <a:ext cx="8796600" cy="31068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&gt; </a:t>
            </a: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chisq.test(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    </a:t>
            </a: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c(140, 40, 20)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,          # Effectifs observés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    </a:t>
            </a: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p = c(0.74, 0.23, 0.03)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# Proportions théoriques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Chi-squared test for given probabilities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data:  c(140, 40, 20)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X-squared = 33.882, df = 2, </a:t>
            </a: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p-value =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</a:t>
            </a: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4.392e-08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70240" y="5470920"/>
            <a:ext cx="1105128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On observe p &lt;&lt; alpha = 3,8%, donc on rejette 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  <a:ea typeface="Lato"/>
              </a:rPr>
              <a:t>0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, ce qui signifie que les régimes alimentaires des étudiant⋅es de biotech. ne sont pas représentatifs de ceux en France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57280" y="1762200"/>
            <a:ext cx="238824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Réalisation du Test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98720" y="5203800"/>
            <a:ext cx="180036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alpha = 3,8%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9" dur="indefinite" restart="never" nodeType="tmRoot">
          <p:childTnLst>
            <p:seq>
              <p:cTn id="400" dur="indefinite" nodeType="mainSeq">
                <p:childTnLst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0240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du χ² (khi-deux) d’ajustement sur R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897280" y="1097640"/>
            <a:ext cx="639756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1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Il faut vérifier les attendus aussi sur R !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1697760" y="2762280"/>
            <a:ext cx="8796600" cy="210132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&gt; regimes = chisq.test(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    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c(140, 40, 20),          # Effectifs observés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    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p = c(0.74, 0.23, 0.03)  # Proportions théoriques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&gt; regimes$expected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[1] 148  46   6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70240" y="5110920"/>
            <a:ext cx="11051280" cy="109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🛑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Si les conditions d’application du test du χ² ne sont pas vérifiées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R va quand même nous donner un calcul et une 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p-value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 associée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→ nous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ne pouvons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 et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ne devons pas l’interpréter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🛑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2436480" y="1741680"/>
            <a:ext cx="7612200" cy="105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Pour ce faire on stocke le résultat du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χ²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puis on accède aux effectifs théoriques avec </a:t>
            </a:r>
            <a:r>
              <a:rPr b="1" lang="en-US" sz="2200" spc="-1" strike="noStrike">
                <a:solidFill>
                  <a:srgbClr val="000000"/>
                </a:solidFill>
                <a:highlight>
                  <a:srgbClr val="e6e905"/>
                </a:highlight>
                <a:latin typeface="Consolas"/>
                <a:ea typeface="Lato"/>
              </a:rPr>
              <a:t>...$expected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7" dur="indefinite" restart="never" nodeType="tmRoot">
          <p:childTnLst>
            <p:seq>
              <p:cTn id="438" dur="indefinite" nodeType="mainSeq"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du χ² (khi-deux) d’homogénéité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119240" y="1205640"/>
            <a:ext cx="995328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000" spc="-1" strike="noStrike">
                <a:solidFill>
                  <a:srgbClr val="1c1c1c"/>
                </a:solidFill>
                <a:latin typeface="Lato"/>
                <a:ea typeface="Lato"/>
              </a:rPr>
              <a:t>Même principe que pour le 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χ² d’ajustement mais on </a:t>
            </a: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compare maintenant deux distributions observées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et on cherche à savoir si elles sont identiques ou non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graphicFrame>
        <p:nvGraphicFramePr>
          <p:cNvPr id="133" name=""/>
          <p:cNvGraphicFramePr/>
          <p:nvPr/>
        </p:nvGraphicFramePr>
        <p:xfrm>
          <a:off x="1150200" y="3610080"/>
          <a:ext cx="9891360" cy="1655640"/>
        </p:xfrm>
        <a:graphic>
          <a:graphicData uri="http://schemas.openxmlformats.org/drawingml/2006/table">
            <a:tbl>
              <a:tblPr/>
              <a:tblGrid>
                <a:gridCol w="2594520"/>
                <a:gridCol w="2172240"/>
                <a:gridCol w="2465280"/>
                <a:gridCol w="2659680"/>
              </a:tblGrid>
              <a:tr h="8049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Régime alimentaire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Omnivore🍖</a:t>
                      </a:r>
                      <a:br>
                        <a:rPr sz="2200"/>
                      </a:b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(avec viande)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Flexitarien🍳</a:t>
                      </a:r>
                      <a:br>
                        <a:rPr sz="2200"/>
                      </a:b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(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baisse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  <a:ea typeface="Verdana"/>
                        </a:rPr>
                        <a:t> 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volontaire)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Sans viande🥑 (végéta*iens)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Licence Biotech.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140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40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Licence Biodiversité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148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60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42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4" name=""/>
          <p:cNvSpPr txBox="1"/>
          <p:nvPr/>
        </p:nvSpPr>
        <p:spPr>
          <a:xfrm>
            <a:off x="1263600" y="2407680"/>
            <a:ext cx="966456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On compare les régimes alimentaires des étudiant⋅es en</a:t>
            </a:r>
            <a:br>
              <a:rPr sz="2200"/>
            </a:b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Licence Biotech (200 étudiant⋅es) vs. Licence Biodiversité (250 étudiant⋅es)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263600" y="5707080"/>
            <a:ext cx="966456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Ces deux distributions sont-elles semblables ?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5" dur="indefinite" restart="never" nodeType="tmRoot">
          <p:childTnLst>
            <p:seq>
              <p:cTn id="456" dur="indefinite" nodeType="mainSeq">
                <p:childTnLst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du χ² (khi-deux) d’homogénéité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graphicFrame>
        <p:nvGraphicFramePr>
          <p:cNvPr id="137" name=""/>
          <p:cNvGraphicFramePr/>
          <p:nvPr/>
        </p:nvGraphicFramePr>
        <p:xfrm>
          <a:off x="1150200" y="1376280"/>
          <a:ext cx="9891360" cy="1655640"/>
        </p:xfrm>
        <a:graphic>
          <a:graphicData uri="http://schemas.openxmlformats.org/drawingml/2006/table">
            <a:tbl>
              <a:tblPr/>
              <a:tblGrid>
                <a:gridCol w="2594520"/>
                <a:gridCol w="2172240"/>
                <a:gridCol w="2465280"/>
                <a:gridCol w="2659680"/>
              </a:tblGrid>
              <a:tr h="8049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Régime alimentaire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Omnivore🍖</a:t>
                      </a:r>
                      <a:br>
                        <a:rPr sz="2200"/>
                      </a:b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(avec viande)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Flexitarien🍳</a:t>
                      </a:r>
                      <a:br>
                        <a:rPr sz="2200"/>
                      </a:b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(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baisse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  <a:ea typeface="Verdana"/>
                        </a:rPr>
                        <a:t> </a:t>
                      </a:r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volontaire)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Sans viande🥑 (végéta*iens)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Licence Biotech.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140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40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Licence Biodiversité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148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60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42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8" name="TextBox 28"/>
          <p:cNvSpPr/>
          <p:nvPr/>
        </p:nvSpPr>
        <p:spPr>
          <a:xfrm>
            <a:off x="363960" y="3362760"/>
            <a:ext cx="11463840" cy="210132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&gt; chisq.test(matrix(c(140, 40, 20, 148, 60, 42), nrow = 2, byrow = TRUE))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Pearson's Chi-squared test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data:  matrix(c(140, 40, 20, 148, 60, 42), nrow = 2, byrow = TRUE)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X-squared = 6.554, df = 2, p-value = 0.03774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70240" y="5615280"/>
            <a:ext cx="1105128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On observe </a:t>
            </a:r>
            <a:r>
              <a:rPr b="0" i="1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p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=0.0377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 très proche de alpha = 3,8%, donc on ne peut pas conclure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→ il nous faudrait un échantillon plus important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3" dur="indefinite" restart="never" nodeType="tmRoot">
          <p:childTnLst>
            <p:seq>
              <p:cTn id="474" dur="indefinite" nodeType="mainSeq">
                <p:childTnLst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128960" y="1391760"/>
            <a:ext cx="9933840" cy="119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Questions sur les tests d’ajustement pour vous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3810240" y="3223440"/>
            <a:ext cx="4571640" cy="257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 txBox="1"/>
          <p:nvPr/>
        </p:nvSpPr>
        <p:spPr>
          <a:xfrm>
            <a:off x="1923840" y="2035440"/>
            <a:ext cx="8344080" cy="29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Un test d'ajustement ça sert à...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A) Vérifier si un échantillon suit une distribution théorique donnée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B) Comparer deux échantillons entre eux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C) Mesurer la qualité d'un modèle de régression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D) Vérifier si une variable a un effet significatif sur une autre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E) Déterminer si des données sont issues d'un processus aléatoire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51040" y="70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Question 1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848040" y="5315040"/>
            <a:ext cx="449568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Bonne réponse :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A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1" dur="indefinite" restart="never" nodeType="tmRoot">
          <p:childTnLst>
            <p:seq>
              <p:cTn id="492" dur="indefinite" nodeType="mainSeq">
                <p:childTnLst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51040" y="70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Question 2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2601720" y="2035440"/>
            <a:ext cx="6988680" cy="29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Le test de Shapiro-Wilk est utilisé pour...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A) Vérifier uniquement la normalité d'une distribution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B) Comparer deux distributions quelconques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C) Tester l'indépendance entre deux variables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D) Vérifier l'homogénéité des variances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E) Détecter des valeurs aberrantes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848040" y="5315040"/>
            <a:ext cx="449568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Bonne réponse :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A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21" dur="indefinite" restart="never" nodeType="tmRoot">
          <p:childTnLst>
            <p:seq>
              <p:cTn id="522" dur="indefinite" nodeType="mainSeq">
                <p:childTnLst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51040" y="70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Question 3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2102400" y="2035440"/>
            <a:ext cx="7986960" cy="29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Le test de Kolmogorov-Smirnov permet de...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A) Tester l'adéquation à n'importe quelle distribution continue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B) Comparer deux échantillons indépendants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C) Vérifier uniquement la normalité d'une distribution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D) Tester l'indépendance entre deux variables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E) Comparer les moyennes de deux populations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416400" y="5315040"/>
            <a:ext cx="535932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Bonnes réponses :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A, B (pas vu en cours)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1" dur="indefinite" restart="never" nodeType="tmRoot">
          <p:childTnLst>
            <p:seq>
              <p:cTn id="552" dur="indefinite" nodeType="mainSeq">
                <p:childTnLst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51040" y="70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Question 4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914840" y="1868040"/>
            <a:ext cx="8362440" cy="29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Le test du chi-deux d'ajustement est particulièrement adapté pour...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A) Les distributions discrètes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B) Les très petits échantillons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C) Comparer plusieurs échantillons simultanément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D) Tester l'indépendance entre deux variables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E) Vérifier l'homogénéité des variances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848040" y="5315040"/>
            <a:ext cx="449568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Bonne réponse :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A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1" dur="indefinite" restart="never" nodeType="tmRoot">
          <p:childTnLst>
            <p:seq>
              <p:cTn id="582" dur="indefinite" nodeType="mainSeq">
                <p:childTnLst>
                  <p:par>
                    <p:cTn id="583" fill="hold">
                      <p:stCondLst>
                        <p:cond delay="indefinite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fill="hold">
                      <p:stCondLst>
                        <p:cond delay="indefinite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51040" y="70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Question 5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560600" y="1967040"/>
            <a:ext cx="9070920" cy="29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Quand un test d'ajustement rejette l'hypothèse nulle, cela signifie que...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A) L'échantillon ne suit probablement pas la distribution théorique testée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B) L'échantillon suit certainement la distribution théorique testée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C) Il y a une erreur dans les calculs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D) La taille de l'échantillon est trop petite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E) Les données contiennent des valeurs aberrantes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848040" y="5315040"/>
            <a:ext cx="449568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Bonne réponse :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A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1" dur="indefinite" restart="never" nodeType="tmRoot">
          <p:childTnLst>
            <p:seq>
              <p:cTn id="612" dur="indefinite" nodeType="mainSeq">
                <p:childTnLst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indefinite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>
                      <p:stCondLst>
                        <p:cond delay="indefinite"/>
                      </p:stCondLst>
                      <p:childTnLst>
                        <p:par>
                          <p:cTn id="626" fill="hold">
                            <p:stCondLst>
                              <p:cond delay="0"/>
                            </p:stCondLst>
                            <p:childTnLst>
                              <p:par>
                                <p:cTn id="6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9" fill="hold">
                      <p:stCondLst>
                        <p:cond delay="indefinite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id="6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7" fill="hold">
                      <p:stCondLst>
                        <p:cond delay="indefinite"/>
                      </p:stCondLst>
                      <p:childTnLst>
                        <p:par>
                          <p:cTn id="638" fill="hold">
                            <p:stCondLst>
                              <p:cond delay="0"/>
                            </p:stCondLst>
                            <p:childTnLst>
                              <p:par>
                                <p:cTn id="6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128960" y="2831760"/>
            <a:ext cx="9933840" cy="119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Test d’indépendance</a:t>
            </a:r>
            <a:br>
              <a:rPr sz="4000"/>
            </a:b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entre deux variables qualitatives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50680" y="70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Principe du χ² d’indépendance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1126440" y="1549440"/>
            <a:ext cx="99388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a deux variables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qualitatives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et on cherche à tester si elles sont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associées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956520" y="2149560"/>
            <a:ext cx="13525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Exemple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graphicFrame>
        <p:nvGraphicFramePr>
          <p:cNvPr id="161" name=""/>
          <p:cNvGraphicFramePr/>
          <p:nvPr/>
        </p:nvGraphicFramePr>
        <p:xfrm>
          <a:off x="956520" y="3374640"/>
          <a:ext cx="5097600" cy="2852280"/>
        </p:xfrm>
        <a:graphic>
          <a:graphicData uri="http://schemas.openxmlformats.org/drawingml/2006/table">
            <a:tbl>
              <a:tblPr/>
              <a:tblGrid>
                <a:gridCol w="2062800"/>
                <a:gridCol w="1119240"/>
                <a:gridCol w="1191600"/>
                <a:gridCol w="724320"/>
              </a:tblGrid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Diplôme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Femmes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Hommes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Total</a:t>
                      </a:r>
                      <a:endParaRPr b="1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Brevet ou moins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183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287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470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CAP/BEP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207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271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478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Bac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183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173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356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Bac +2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166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134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300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&gt; Bac +2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261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235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496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Total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1000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1100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2100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2" name="TextBox 10"/>
          <p:cNvSpPr/>
          <p:nvPr/>
        </p:nvSpPr>
        <p:spPr>
          <a:xfrm>
            <a:off x="1126440" y="2673360"/>
            <a:ext cx="99388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Y a-t-il une association entre genre et niveau de diplôme ?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63" name="TextBox 11"/>
          <p:cNvSpPr/>
          <p:nvPr/>
        </p:nvSpPr>
        <p:spPr>
          <a:xfrm>
            <a:off x="6705360" y="4087080"/>
            <a:ext cx="43866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Recensement de 2 100 personnes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6705360" y="4915080"/>
            <a:ext cx="43866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peut avoir des attendus à l’aide des </a:t>
            </a:r>
            <a:r>
              <a:rPr b="1" lang="en-US" sz="2200" spc="-1" strike="noStrike">
                <a:solidFill>
                  <a:srgbClr val="666666"/>
                </a:solidFill>
                <a:latin typeface="Lato"/>
              </a:rPr>
              <a:t>sommes marginales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65" name=""/>
          <p:cNvSpPr/>
          <p:nvPr/>
        </p:nvSpPr>
        <p:spPr>
          <a:xfrm>
            <a:off x="5298120" y="3179160"/>
            <a:ext cx="988200" cy="4250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66" name=""/>
          <p:cNvSpPr/>
          <p:nvPr/>
        </p:nvSpPr>
        <p:spPr>
          <a:xfrm>
            <a:off x="-393120" y="5810400"/>
            <a:ext cx="6750720" cy="678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1" dur="indefinite" restart="never" nodeType="tmRoot">
          <p:childTnLst>
            <p:seq>
              <p:cTn id="642" dur="indefinite" nodeType="mainSeq">
                <p:childTnLst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>
                      <p:stCondLst>
                        <p:cond delay="indefinite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3" fill="hold">
                      <p:stCondLst>
                        <p:cond delay="indefinite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7" fill="hold">
                      <p:stCondLst>
                        <p:cond delay="indefinite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id="66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50680" y="704160"/>
            <a:ext cx="10849320" cy="43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281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χ² d’indépendance : Hypothèses &amp; Condition d’application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68" name="TextBox 9"/>
          <p:cNvSpPr/>
          <p:nvPr/>
        </p:nvSpPr>
        <p:spPr>
          <a:xfrm>
            <a:off x="2881800" y="2269440"/>
            <a:ext cx="6428160" cy="18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Lato"/>
                <a:ea typeface="Microsoft YaHei"/>
              </a:rPr>
              <a:t>Hypothèses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Microsoft YaHei"/>
              </a:rPr>
              <a:t>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  <a:ea typeface="Microsoft YaHei"/>
              </a:rPr>
              <a:t>0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Microsoft YaHei"/>
              </a:rPr>
              <a:t> : Les deux variables ne sont pas liées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Lato"/>
                <a:ea typeface="Microsoft YaHei"/>
              </a:rPr>
              <a:t>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  <a:ea typeface="Microsoft YaHei"/>
              </a:rPr>
              <a:t>1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Microsoft YaHei"/>
              </a:rPr>
              <a:t> : Les variables sont liées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Il faut que les effectifs attendus soient tous ≥ 5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1" dur="indefinite" restart="never" nodeType="tmRoot">
          <p:childTnLst>
            <p:seq>
              <p:cTn id="672" dur="indefinite" nodeType="mainSeq">
                <p:childTnLst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indefinite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indefinite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50680" y="70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Calcul du χ² d’indépendance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graphicFrame>
        <p:nvGraphicFramePr>
          <p:cNvPr id="170" name=""/>
          <p:cNvGraphicFramePr/>
          <p:nvPr/>
        </p:nvGraphicFramePr>
        <p:xfrm>
          <a:off x="920520" y="1646640"/>
          <a:ext cx="5097600" cy="2852280"/>
        </p:xfrm>
        <a:graphic>
          <a:graphicData uri="http://schemas.openxmlformats.org/drawingml/2006/table">
            <a:tbl>
              <a:tblPr/>
              <a:tblGrid>
                <a:gridCol w="2062800"/>
                <a:gridCol w="1119240"/>
                <a:gridCol w="1191600"/>
                <a:gridCol w="724320"/>
              </a:tblGrid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Diplôme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c9211e"/>
                          </a:solidFill>
                          <a:latin typeface="Lato"/>
                        </a:rPr>
                        <a:t>Femmes</a:t>
                      </a:r>
                      <a:endParaRPr b="1" lang="en-US" sz="2200" spc="-1" strike="noStrike">
                        <a:solidFill>
                          <a:srgbClr val="c9211e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Hommes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Total</a:t>
                      </a:r>
                      <a:endParaRPr b="1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c9211e"/>
                          </a:solidFill>
                          <a:latin typeface="Lato"/>
                        </a:rPr>
                        <a:t>Brevet ou moins</a:t>
                      </a:r>
                      <a:endParaRPr b="0" lang="en-US" sz="2200" spc="-1" strike="noStrike">
                        <a:solidFill>
                          <a:srgbClr val="c9211e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183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287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ea7500"/>
                          </a:solidFill>
                          <a:latin typeface="Lato"/>
                        </a:rPr>
                        <a:t>470</a:t>
                      </a:r>
                      <a:endParaRPr b="1" lang="en-US" sz="2200" spc="-1" strike="noStrike">
                        <a:solidFill>
                          <a:srgbClr val="ea75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CAP/BEP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207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271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478</a:t>
                      </a:r>
                      <a:endParaRPr b="1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Bac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183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173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356</a:t>
                      </a:r>
                      <a:endParaRPr b="1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Bac +2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166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134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300</a:t>
                      </a:r>
                      <a:endParaRPr b="1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&gt; Bac +2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261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235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496</a:t>
                      </a:r>
                      <a:endParaRPr b="1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09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Total</a:t>
                      </a:r>
                      <a:endParaRPr b="1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55215b"/>
                          </a:solidFill>
                          <a:latin typeface="Lato"/>
                        </a:rPr>
                        <a:t>1000</a:t>
                      </a:r>
                      <a:endParaRPr b="1" lang="en-US" sz="2200" spc="-1" strike="noStrike">
                        <a:solidFill>
                          <a:srgbClr val="55215b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1100</a:t>
                      </a:r>
                      <a:endParaRPr b="1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2100</a:t>
                      </a:r>
                      <a:endParaRPr b="1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1" name="TextBox 26"/>
          <p:cNvSpPr/>
          <p:nvPr/>
        </p:nvSpPr>
        <p:spPr>
          <a:xfrm>
            <a:off x="6127920" y="1614960"/>
            <a:ext cx="5166720" cy="33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2160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peut avoir des attendus à l’aide des </a:t>
            </a:r>
            <a:r>
              <a:rPr b="1" lang="en-US" sz="2200" spc="-1" strike="noStrike">
                <a:solidFill>
                  <a:srgbClr val="666666"/>
                </a:solidFill>
                <a:latin typeface="Lato"/>
              </a:rPr>
              <a:t>sommes marginales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 defTabSz="914400">
              <a:lnSpc>
                <a:spcPct val="100000"/>
              </a:lnSpc>
              <a:spcAft>
                <a:spcPts val="2160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Sous l’hypothèse de 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proportionalité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combien attend-on d’avoir de </a:t>
            </a:r>
            <a:r>
              <a:rPr b="0" lang="en-US" sz="2200" spc="-1" strike="noStrike">
                <a:solidFill>
                  <a:srgbClr val="c9211e"/>
                </a:solidFill>
                <a:latin typeface="Lato"/>
              </a:rPr>
              <a:t>femmes ayant le Brevet ou moins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?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 defTabSz="914400">
              <a:lnSpc>
                <a:spcPct val="100000"/>
              </a:lnSpc>
              <a:spcAft>
                <a:spcPts val="2160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= proportionnel au </a:t>
            </a:r>
            <a:r>
              <a:rPr b="1" lang="en-US" sz="2200" spc="-1" strike="noStrike">
                <a:solidFill>
                  <a:srgbClr val="55215b"/>
                </a:solidFill>
                <a:latin typeface="Lato"/>
              </a:rPr>
              <a:t>nombre de femmes dans l’échantillon</a:t>
            </a:r>
            <a:r>
              <a:rPr b="0" lang="en-US" sz="2200" spc="-1" strike="noStrike">
                <a:solidFill>
                  <a:srgbClr val="55215b"/>
                </a:solidFill>
                <a:latin typeface="Lato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et</a:t>
            </a:r>
            <a:br>
              <a:rPr sz="2200"/>
            </a:br>
            <a:r>
              <a:rPr b="1" lang="en-US" sz="2200" spc="-1" strike="noStrike">
                <a:solidFill>
                  <a:srgbClr val="ea7500"/>
                </a:solidFill>
                <a:latin typeface="Lato"/>
              </a:rPr>
              <a:t>de personnes ayant le Brevet ou moins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2" name=""/>
              <p:cNvSpPr txBox="1"/>
              <p:nvPr/>
            </p:nvSpPr>
            <p:spPr>
              <a:xfrm>
                <a:off x="3017880" y="5261400"/>
                <a:ext cx="5971680" cy="659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attendu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rPr>
                            <m:lit/>
                            <m:nor/>
                          </m:rPr>
                          <m:t xml:space="preserve">femme ayant Brevet ou moins</m:t>
                        </m:r>
                      </m:e>
                    </m:d>
                    <m:r>
                      <m:t xml:space="preserve">=</m:t>
                    </m:r>
                    <m:f>
                      <m:num>
                        <m:r>
                          <m:t xml:space="preserve">470</m:t>
                        </m:r>
                        <m:r>
                          <m:t xml:space="preserve">×</m:t>
                        </m:r>
                        <m:r>
                          <m:t xml:space="preserve">1000</m:t>
                        </m:r>
                      </m:num>
                      <m:den>
                        <m:r>
                          <m:t xml:space="preserve">2100</m:t>
                        </m:r>
                      </m:den>
                    </m:f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73" name=""/>
              <p:cNvSpPr txBox="1"/>
              <p:nvPr/>
            </p:nvSpPr>
            <p:spPr>
              <a:xfrm>
                <a:off x="7522560" y="6107040"/>
                <a:ext cx="1007280" cy="30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223.81</m:t>
                    </m:r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5" dur="indefinite" restart="never" nodeType="tmRoot">
          <p:childTnLst>
            <p:seq>
              <p:cTn id="686" dur="indefinite" nodeType="mainSeq">
                <p:childTnLst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1" fill="hold">
                      <p:stCondLst>
                        <p:cond delay="indefinite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id="6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5" fill="hold">
                      <p:stCondLst>
                        <p:cond delay="indefinite"/>
                      </p:stCondLst>
                      <p:childTnLst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9" fill="hold">
                      <p:stCondLst>
                        <p:cond delay="indefinite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50680" y="70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Calcul du χ² d’indépendance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75" name="TextBox 24"/>
          <p:cNvSpPr/>
          <p:nvPr/>
        </p:nvSpPr>
        <p:spPr>
          <a:xfrm>
            <a:off x="5905800" y="1675080"/>
            <a:ext cx="583560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2160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Même principe que pour les tests précédents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 defTabSz="914400">
              <a:lnSpc>
                <a:spcPct val="100000"/>
              </a:lnSpc>
              <a:spcAft>
                <a:spcPts val="2160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Calcul de tous les </a:t>
            </a:r>
            <a:r>
              <a:rPr b="1" lang="en-US" sz="2200" spc="-1" strike="noStrike">
                <a:solidFill>
                  <a:srgbClr val="2a6099"/>
                </a:solidFill>
                <a:latin typeface="Lato"/>
              </a:rPr>
              <a:t>effectifs attendus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Puis calcul de la statistique du</a:t>
            </a:r>
            <a:r>
              <a:rPr b="1" lang="en-US" sz="2200" spc="-1" strike="noStrike">
                <a:solidFill>
                  <a:srgbClr val="000000"/>
                </a:solidFill>
                <a:latin typeface="Lato"/>
              </a:rPr>
              <a:t>  χ²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graphicFrame>
        <p:nvGraphicFramePr>
          <p:cNvPr id="176" name=""/>
          <p:cNvGraphicFramePr/>
          <p:nvPr/>
        </p:nvGraphicFramePr>
        <p:xfrm>
          <a:off x="571680" y="1656360"/>
          <a:ext cx="4829040" cy="4528080"/>
        </p:xfrm>
        <a:graphic>
          <a:graphicData uri="http://schemas.openxmlformats.org/drawingml/2006/table">
            <a:tbl>
              <a:tblPr/>
              <a:tblGrid>
                <a:gridCol w="1602000"/>
                <a:gridCol w="1207080"/>
                <a:gridCol w="1207080"/>
                <a:gridCol w="813240"/>
              </a:tblGrid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Diplôme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Femmes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Hommes</a:t>
                      </a:r>
                      <a:endParaRPr b="1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Total</a:t>
                      </a:r>
                      <a:endParaRPr b="1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Brevet ou moins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183</a:t>
                      </a:r>
                      <a:br>
                        <a:rPr sz="2200"/>
                      </a:br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223,8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287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246,2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470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CAP/BEP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207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227,6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271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250,4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478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Bac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183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169,5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173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186,5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356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Bac +2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166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142,9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134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157,1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300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&gt; Bac +2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261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236,2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000000"/>
                          </a:solidFill>
                          <a:latin typeface="Lato"/>
                        </a:rPr>
                        <a:t>235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  <a:p>
                      <a:pPr algn="r"/>
                      <a:r>
                        <a:rPr b="1" lang="en-US" sz="2200" spc="-1" strike="noStrike">
                          <a:solidFill>
                            <a:srgbClr val="2a6099"/>
                          </a:solidFill>
                          <a:latin typeface="Lato"/>
                        </a:rPr>
                        <a:t>259,8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496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Total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1000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1100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0" lang="en-US" sz="2200" spc="-1" strike="noStrike">
                          <a:solidFill>
                            <a:srgbClr val="666666"/>
                          </a:solidFill>
                          <a:latin typeface="Lato"/>
                        </a:rPr>
                        <a:t>2100</a:t>
                      </a:r>
                      <a:endParaRPr b="0" lang="en-US" sz="2200" spc="-1" strike="noStrike">
                        <a:solidFill>
                          <a:srgbClr val="666666"/>
                        </a:solidFill>
                        <a:latin typeface="Lato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mc:AlternateContent>
        <mc:Choice xmlns:a14="http://schemas.microsoft.com/office/drawing/2010/main" Requires="a14">
          <p:sp>
            <p:nvSpPr>
              <p:cNvPr id="177" name=""/>
              <p:cNvSpPr txBox="1"/>
              <p:nvPr/>
            </p:nvSpPr>
            <p:spPr>
              <a:xfrm>
                <a:off x="5988600" y="3430080"/>
                <a:ext cx="5670360" cy="783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χ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nary>
                      <m:naryPr>
                        <m:chr m:val="∑"/>
                        <m:supHide m:val="1"/>
                      </m:naryPr>
                      <m:sub>
                        <m:r>
                          <m:t xml:space="preserve">i</m:t>
                        </m:r>
                      </m:sub>
                      <m:sup/>
                      <m:e>
                        <m:f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endChr m:val=")"/>
                                  </m:dPr>
                                  <m:e>
                                    <m:r>
                                      <m:t xml:space="preserve">effectifs</m:t>
                                    </m:r>
                                    <m:sSub>
                                      <m:e>
                                        <m:r>
                                          <m:t xml:space="preserve">observés</m:t>
                                        </m:r>
                                      </m:e>
                                      <m:sub>
                                        <m:r>
                                          <m:t xml:space="preserve">i</m:t>
                                        </m:r>
                                      </m:sub>
                                    </m:sSub>
                                    <m:r>
                                      <m:t xml:space="preserve">−</m:t>
                                    </m:r>
                                    <m:r>
                                      <m:t xml:space="preserve">effectifs</m:t>
                                    </m:r>
                                    <m:sSub>
                                      <m:e>
                                        <m:r>
                                          <m:t xml:space="preserve">théoriques</m:t>
                                        </m:r>
                                      </m:e>
                                      <m:sub>
                                        <m:r>
                                          <m:t xml:space="preserve"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</m:num>
                          <m:den>
                            <m:r>
                              <m:t xml:space="preserve">effectifs</m:t>
                            </m:r>
                            <m:sSub>
                              <m:e>
                                <m:r>
                                  <m:t xml:space="preserve">théoriques</m:t>
                                </m:r>
                              </m:e>
                              <m:sub>
                                <m:r>
                                  <m:t xml:space="preserve">i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78" name=""/>
              <p:cNvSpPr txBox="1"/>
              <p:nvPr/>
            </p:nvSpPr>
            <p:spPr>
              <a:xfrm>
                <a:off x="8301960" y="4510080"/>
                <a:ext cx="1323360" cy="359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χ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r>
                      <m:t xml:space="preserve">31.949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79" name=""/>
          <p:cNvSpPr txBox="1"/>
          <p:nvPr/>
        </p:nvSpPr>
        <p:spPr>
          <a:xfrm>
            <a:off x="5802480" y="5038200"/>
            <a:ext cx="6042240" cy="155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Puis on compare cette valeur à une loi de χ²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à (nbre lignes – 1)*(nbre colonnes -1) = 4 d.d.l.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0" i="1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p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  <a:ea typeface="Lato"/>
              </a:rPr>
              <a:t> = 1,96⋅10</a:t>
            </a:r>
            <a:r>
              <a:rPr b="0" lang="en-US" sz="2200" spc="-1" strike="noStrike" baseline="33000">
                <a:solidFill>
                  <a:srgbClr val="000000"/>
                </a:solidFill>
                <a:latin typeface="Lato"/>
                <a:ea typeface="Lato"/>
              </a:rPr>
              <a:t>-6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80" name=""/>
          <p:cNvSpPr/>
          <p:nvPr/>
        </p:nvSpPr>
        <p:spPr>
          <a:xfrm>
            <a:off x="2500200" y="2452680"/>
            <a:ext cx="845280" cy="3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81" name=""/>
          <p:cNvSpPr/>
          <p:nvPr/>
        </p:nvSpPr>
        <p:spPr>
          <a:xfrm>
            <a:off x="3711960" y="2464560"/>
            <a:ext cx="845280" cy="3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82" name=""/>
          <p:cNvSpPr/>
          <p:nvPr/>
        </p:nvSpPr>
        <p:spPr>
          <a:xfrm>
            <a:off x="2500200" y="3184560"/>
            <a:ext cx="845280" cy="3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83" name=""/>
          <p:cNvSpPr/>
          <p:nvPr/>
        </p:nvSpPr>
        <p:spPr>
          <a:xfrm>
            <a:off x="3711960" y="3196440"/>
            <a:ext cx="845280" cy="3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84" name=""/>
          <p:cNvSpPr/>
          <p:nvPr/>
        </p:nvSpPr>
        <p:spPr>
          <a:xfrm>
            <a:off x="3711960" y="3928680"/>
            <a:ext cx="845280" cy="3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85" name=""/>
          <p:cNvSpPr/>
          <p:nvPr/>
        </p:nvSpPr>
        <p:spPr>
          <a:xfrm>
            <a:off x="2500200" y="3928680"/>
            <a:ext cx="845280" cy="3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86" name=""/>
          <p:cNvSpPr/>
          <p:nvPr/>
        </p:nvSpPr>
        <p:spPr>
          <a:xfrm>
            <a:off x="2500200" y="4684680"/>
            <a:ext cx="845280" cy="3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87" name=""/>
          <p:cNvSpPr/>
          <p:nvPr/>
        </p:nvSpPr>
        <p:spPr>
          <a:xfrm>
            <a:off x="3711960" y="4684680"/>
            <a:ext cx="845280" cy="3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88" name=""/>
          <p:cNvSpPr/>
          <p:nvPr/>
        </p:nvSpPr>
        <p:spPr>
          <a:xfrm>
            <a:off x="3711960" y="5404680"/>
            <a:ext cx="845280" cy="3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89" name=""/>
          <p:cNvSpPr/>
          <p:nvPr/>
        </p:nvSpPr>
        <p:spPr>
          <a:xfrm>
            <a:off x="2499840" y="5404680"/>
            <a:ext cx="845280" cy="30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3" dur="indefinite" restart="never" nodeType="tmRoot">
          <p:childTnLst>
            <p:seq>
              <p:cTn id="704" dur="indefinite" nodeType="mainSeq">
                <p:childTnLst>
                  <p:par>
                    <p:cTn id="705" fill="hold">
                      <p:stCondLst>
                        <p:cond delay="indefinite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9" fill="hold">
                      <p:stCondLst>
                        <p:cond delay="indefinite"/>
                      </p:stCondLst>
                      <p:childTnLst>
                        <p:par>
                          <p:cTn id="710" fill="hold">
                            <p:stCondLst>
                              <p:cond delay="0"/>
                            </p:stCondLst>
                            <p:childTnLst>
                              <p:par>
                                <p:cTn id="7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3" fill="hold">
                      <p:stCondLst>
                        <p:cond delay="indefinite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id="7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7" fill="hold">
                      <p:stCondLst>
                        <p:cond delay="indefinite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1" fill="hold">
                      <p:stCondLst>
                        <p:cond delay="indefinite"/>
                      </p:stCondLst>
                      <p:childTnLst>
                        <p:par>
                          <p:cTn id="722" fill="hold">
                            <p:stCondLst>
                              <p:cond delay="0"/>
                            </p:stCondLst>
                            <p:childTnLst>
                              <p:par>
                                <p:cTn id="723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7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fill="hold">
                      <p:stCondLst>
                        <p:cond delay="indefinite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5" fill="hold">
                      <p:stCondLst>
                        <p:cond delay="indefinite"/>
                      </p:stCondLst>
                      <p:childTnLst>
                        <p:par>
                          <p:cTn id="746" fill="hold">
                            <p:stCondLst>
                              <p:cond delay="0"/>
                            </p:stCondLst>
                            <p:childTnLst>
                              <p:par>
                                <p:cTn id="7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indefinite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3" fill="hold">
                      <p:stCondLst>
                        <p:cond delay="indefinite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fill="hold">
                      <p:stCondLst>
                        <p:cond delay="indefinite"/>
                      </p:stCondLst>
                      <p:childTnLst>
                        <p:par>
                          <p:cTn id="758" fill="hold">
                            <p:stCondLst>
                              <p:cond delay="0"/>
                            </p:stCondLst>
                            <p:childTnLst>
                              <p:par>
                                <p:cTn id="7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73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χ² d’indépendance sur R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91" name="TextBox 14"/>
          <p:cNvSpPr/>
          <p:nvPr/>
        </p:nvSpPr>
        <p:spPr>
          <a:xfrm>
            <a:off x="1396800" y="1073520"/>
            <a:ext cx="93981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utilise encore la fonction </a:t>
            </a: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chisq.test()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 mais avec le tableau de données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92" name="TextBox 18"/>
          <p:cNvSpPr/>
          <p:nvPr/>
        </p:nvSpPr>
        <p:spPr>
          <a:xfrm>
            <a:off x="3211560" y="3060720"/>
            <a:ext cx="5769000" cy="277164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&gt; chisq.test(diplome_genre)$expected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               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genre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diplome              femme    homme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brevet_ou_moins 223.8095 246.1905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bep_cap         227.6190 250.3810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bac             169.5238 186.4762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bac_plus_2      142.8571 157.1429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  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sup_bac_plus_2  236.1905 259.8095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3343680" y="2018880"/>
            <a:ext cx="5504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vérifie les effectifs théoriques d’après R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61" dur="indefinite" restart="never" nodeType="tmRoot">
          <p:childTnLst>
            <p:seq>
              <p:cTn id="762" dur="indefinite" nodeType="mainSeq">
                <p:childTnLst>
                  <p:par>
                    <p:cTn id="763" fill="hold">
                      <p:stCondLst>
                        <p:cond delay="indefinite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indefinite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>
                      <p:stCondLst>
                        <p:cond delay="indefinite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73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χ² d’indépendance sur R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195" name="TextBox 27"/>
          <p:cNvSpPr/>
          <p:nvPr/>
        </p:nvSpPr>
        <p:spPr>
          <a:xfrm>
            <a:off x="2202480" y="2194560"/>
            <a:ext cx="7787160" cy="210132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&gt; chisq.test(diplome_genre)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Consolas"/>
              </a:rPr>
              <a:t>	</a:t>
            </a: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Pearson's Chi-squared test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data:  diplome_genre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Consolas"/>
              </a:rPr>
              <a:t>X-squared = 31.949, df = 4, p-value = 1.959e-06</a:t>
            </a:r>
            <a:endParaRPr b="0" lang="en-US" sz="2200" spc="-1" strike="noStrike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96" name="TextBox 31"/>
          <p:cNvSpPr/>
          <p:nvPr/>
        </p:nvSpPr>
        <p:spPr>
          <a:xfrm>
            <a:off x="3343680" y="1221840"/>
            <a:ext cx="5504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Puis on effectue le test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197" name="TextBox 64"/>
          <p:cNvSpPr/>
          <p:nvPr/>
        </p:nvSpPr>
        <p:spPr>
          <a:xfrm>
            <a:off x="1895400" y="4843080"/>
            <a:ext cx="840096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On a p &lt;&lt; alpha = 0,038, donc on rejette H</a:t>
            </a:r>
            <a:r>
              <a:rPr b="0" lang="en-US" sz="2200" spc="-1" strike="noStrike" baseline="-8000">
                <a:solidFill>
                  <a:srgbClr val="000000"/>
                </a:solidFill>
                <a:latin typeface="Lato"/>
              </a:rPr>
              <a:t>0</a:t>
            </a:r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, ce qui signifie qu’il y a une association entre genre et niveau de diplôme en France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5" dur="indefinite" restart="never" nodeType="tmRoot">
          <p:childTnLst>
            <p:seq>
              <p:cTn id="776" dur="indefinite" nodeType="mainSeq">
                <p:childTnLst>
                  <p:par>
                    <p:cTn id="777" fill="hold">
                      <p:stCondLst>
                        <p:cond delay="indefinite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indefinite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5" fill="hold">
                      <p:stCondLst>
                        <p:cond delay="indefinite"/>
                      </p:stCondLst>
                      <p:childTnLst>
                        <p:par>
                          <p:cTn id="786" fill="hold">
                            <p:stCondLst>
                              <p:cond delay="0"/>
                            </p:stCondLst>
                            <p:childTnLst>
                              <p:par>
                                <p:cTn id="7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850680" y="2834280"/>
            <a:ext cx="10849320" cy="118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</a:rPr>
              <a:t>Résumé d’aujourd’hui</a:t>
            </a:r>
            <a:br>
              <a:rPr sz="4000"/>
            </a:br>
            <a:r>
              <a:rPr b="1" lang="en-US" sz="4000" spc="-1" strike="noStrike">
                <a:solidFill>
                  <a:schemeClr val="dk1"/>
                </a:solidFill>
                <a:latin typeface="Verdana"/>
              </a:rPr>
              <a:t>(au tableau)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Révision de la démarche statistique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51040" y="1179360"/>
            <a:ext cx="9138240" cy="560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Choix d’un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seuil alpha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Verdana"/>
                <a:ea typeface="Verdana"/>
              </a:rPr>
              <a:t>α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(=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risque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alpha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=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risque de première espèce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Obtention des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données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Choix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d’un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test statistique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à effectuer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Spécification des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hypothèses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du test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(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H</a:t>
            </a:r>
            <a:r>
              <a:rPr b="1" lang="en-US" sz="2000" spc="-1" strike="noStrike" baseline="-8000">
                <a:solidFill>
                  <a:srgbClr val="000000"/>
                </a:solidFill>
                <a:latin typeface="Lato"/>
              </a:rPr>
              <a:t>0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= hypothèse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nulle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;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H</a:t>
            </a:r>
            <a:r>
              <a:rPr b="1" lang="en-US" sz="2000" spc="-1" strike="noStrike" baseline="-8000">
                <a:solidFill>
                  <a:srgbClr val="000000"/>
                </a:solidFill>
                <a:latin typeface="Lato"/>
              </a:rPr>
              <a:t>1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= hypothèse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alternative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Vérification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des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conditions d’application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du test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(et donc réalisation potentielle d’autres tests)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Si conditions vérifiées →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réalisation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du test (sur R)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Interprétation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du test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lvl="1" marL="432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Comparaison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de la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p-value 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obtenue au seuil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alpha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lvl="1" marL="432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Conclusion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par rapport aux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hypothèses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H</a:t>
            </a:r>
            <a:r>
              <a:rPr b="0" lang="en-US" sz="2000" spc="-1" strike="noStrike" baseline="-8000">
                <a:solidFill>
                  <a:srgbClr val="000000"/>
                </a:solidFill>
                <a:latin typeface="Lato"/>
              </a:rPr>
              <a:t>0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et H</a:t>
            </a:r>
            <a:r>
              <a:rPr b="0" lang="en-US" sz="2000" spc="-1" strike="noStrike" baseline="-8000">
                <a:solidFill>
                  <a:srgbClr val="000000"/>
                </a:solidFill>
                <a:latin typeface="Lato"/>
              </a:rPr>
              <a:t>1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(= rejet/non-rejet de H</a:t>
            </a:r>
            <a:r>
              <a:rPr b="0" lang="en-US" sz="2000" spc="-1" strike="noStrike" baseline="-8000">
                <a:solidFill>
                  <a:srgbClr val="000000"/>
                </a:solidFill>
                <a:latin typeface="Lato"/>
              </a:rPr>
              <a:t>0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)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pPr lvl="1" marL="432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Interprétation</a:t>
            </a: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 par rapport aux </a:t>
            </a:r>
            <a:r>
              <a:rPr b="1" lang="en-US" sz="2000" spc="-1" strike="noStrike">
                <a:solidFill>
                  <a:srgbClr val="000000"/>
                </a:solidFill>
                <a:latin typeface="Lato"/>
              </a:rPr>
              <a:t>données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Lato"/>
              </a:rPr>
              <a:t>(= qu’est-ce que cela signifie concrètement)</a:t>
            </a:r>
            <a:endParaRPr b="0" lang="en-US" sz="2000" spc="-1" strike="noStrike">
              <a:solidFill>
                <a:srgbClr val="000000"/>
              </a:solidFill>
              <a:latin typeface="Lato"/>
            </a:endParaRPr>
          </a:p>
          <a:p>
            <a:endParaRPr b="0" lang="en-US" sz="2000" spc="-1" strike="noStrike">
              <a:solidFill>
                <a:srgbClr val="000000"/>
              </a:solidFill>
              <a:latin typeface="Lato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8048160" y="2905200"/>
            <a:ext cx="3381480" cy="31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000000"/>
                </a:solidFill>
                <a:latin typeface="Lato"/>
              </a:rPr>
              <a:t>Rappels du 1er semestre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c9211e"/>
                </a:solidFill>
                <a:latin typeface="Lato"/>
              </a:rPr>
              <a:t>Si </a:t>
            </a:r>
            <a:r>
              <a:rPr b="1" lang="en-US" sz="2200" spc="-1" strike="noStrike">
                <a:solidFill>
                  <a:srgbClr val="c9211e"/>
                </a:solidFill>
                <a:latin typeface="Lato"/>
              </a:rPr>
              <a:t>p &gt; alpha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c9211e"/>
                </a:solidFill>
                <a:latin typeface="Lato"/>
              </a:rPr>
              <a:t>→ </a:t>
            </a:r>
            <a:r>
              <a:rPr b="0" lang="en-US" sz="2200" spc="-1" strike="noStrike">
                <a:solidFill>
                  <a:srgbClr val="c9211e"/>
                </a:solidFill>
                <a:latin typeface="Lato"/>
              </a:rPr>
              <a:t>on ne rejette pas H</a:t>
            </a:r>
            <a:r>
              <a:rPr b="0" lang="en-US" sz="2200" spc="-1" strike="noStrike" baseline="-8000">
                <a:solidFill>
                  <a:srgbClr val="c9211e"/>
                </a:solidFill>
                <a:latin typeface="Lato"/>
              </a:rPr>
              <a:t>0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c9211e"/>
                </a:solidFill>
                <a:latin typeface="Lato"/>
              </a:rPr>
              <a:t>Si </a:t>
            </a:r>
            <a:r>
              <a:rPr b="1" lang="en-US" sz="2200" spc="-1" strike="noStrike">
                <a:solidFill>
                  <a:srgbClr val="c9211e"/>
                </a:solidFill>
                <a:latin typeface="Lato"/>
              </a:rPr>
              <a:t>p &lt; alpha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c9211e"/>
                </a:solidFill>
                <a:latin typeface="Lato"/>
              </a:rPr>
              <a:t>→ </a:t>
            </a:r>
            <a:r>
              <a:rPr b="0" lang="en-US" sz="2200" spc="-1" strike="noStrike">
                <a:solidFill>
                  <a:srgbClr val="c9211e"/>
                </a:solidFill>
                <a:latin typeface="Lato"/>
              </a:rPr>
              <a:t>on rejette H</a:t>
            </a:r>
            <a:r>
              <a:rPr b="0" lang="en-US" sz="2200" spc="-1" strike="noStrike" baseline="-8000">
                <a:solidFill>
                  <a:srgbClr val="c9211e"/>
                </a:solidFill>
                <a:latin typeface="Lato"/>
              </a:rPr>
              <a:t>0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c9211e"/>
                </a:solidFill>
                <a:latin typeface="Lato"/>
              </a:rPr>
              <a:t>Si </a:t>
            </a:r>
            <a:r>
              <a:rPr b="1" lang="en-US" sz="2200" spc="-1" strike="noStrike">
                <a:solidFill>
                  <a:srgbClr val="c9211e"/>
                </a:solidFill>
                <a:latin typeface="Lato"/>
              </a:rPr>
              <a:t>p proche de alpha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r>
              <a:rPr b="0" lang="en-US" sz="2200" spc="-1" strike="noStrike">
                <a:solidFill>
                  <a:srgbClr val="c9211e"/>
                </a:solidFill>
                <a:latin typeface="Lato"/>
              </a:rPr>
              <a:t>→ </a:t>
            </a:r>
            <a:r>
              <a:rPr b="0" lang="en-US" sz="2200" spc="-1" strike="noStrike">
                <a:solidFill>
                  <a:srgbClr val="c9211e"/>
                </a:solidFill>
                <a:latin typeface="Lato"/>
              </a:rPr>
              <a:t>on ne peut pas conclure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9" dur="indefinite" restart="never" nodeType="tmRoot">
          <p:childTnLst>
            <p:seq>
              <p:cTn id="790" dur="indefinite" nodeType="mainSeq">
                <p:childTnLst>
                  <p:par>
                    <p:cTn id="791" fill="hold">
                      <p:stCondLst>
                        <p:cond delay="indefinite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5" fill="hold">
                      <p:stCondLst>
                        <p:cond delay="indefinite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9" fill="hold">
                      <p:stCondLst>
                        <p:cond delay="indefinite"/>
                      </p:stCondLst>
                      <p:childTnLst>
                        <p:par>
                          <p:cTn id="800" fill="hold">
                            <p:stCondLst>
                              <p:cond delay="0"/>
                            </p:stCondLst>
                            <p:childTnLst>
                              <p:par>
                                <p:cTn id="8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3" fill="hold">
                      <p:stCondLst>
                        <p:cond delay="indefinite"/>
                      </p:stCondLst>
                      <p:childTnLst>
                        <p:par>
                          <p:cTn id="804" fill="hold">
                            <p:stCondLst>
                              <p:cond delay="0"/>
                            </p:stCondLst>
                            <p:childTnLst>
                              <p:par>
                                <p:cTn id="8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7" fill="hold">
                      <p:stCondLst>
                        <p:cond delay="indefinite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1" fill="hold">
                      <p:stCondLst>
                        <p:cond delay="indefinite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id="8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5" fill="hold">
                      <p:stCondLst>
                        <p:cond delay="indefinite"/>
                      </p:stCondLst>
                      <p:childTnLst>
                        <p:par>
                          <p:cTn id="816" fill="hold">
                            <p:stCondLst>
                              <p:cond delay="0"/>
                            </p:stCondLst>
                            <p:childTnLst>
                              <p:par>
                                <p:cTn id="8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indefinite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3" fill="hold">
                      <p:stCondLst>
                        <p:cond delay="indefinite"/>
                      </p:stCondLst>
                      <p:childTnLst>
                        <p:par>
                          <p:cTn id="824" fill="hold">
                            <p:stCondLst>
                              <p:cond delay="0"/>
                            </p:stCondLst>
                            <p:childTnLst>
                              <p:par>
                                <p:cTn id="8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7" fill="hold">
                      <p:stCondLst>
                        <p:cond delay="indefinite"/>
                      </p:stCondLst>
                      <p:childTnLst>
                        <p:par>
                          <p:cTn id="828" fill="hold">
                            <p:stCondLst>
                              <p:cond delay="0"/>
                            </p:stCondLst>
                            <p:childTnLst>
                              <p:par>
                                <p:cTn id="8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>
                      <p:stCondLst>
                        <p:cond delay="indefinite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fill="hold">
                      <p:stCondLst>
                        <p:cond delay="indefinite"/>
                      </p:stCondLst>
                      <p:childTnLst>
                        <p:par>
                          <p:cTn id="836" fill="hold">
                            <p:stCondLst>
                              <p:cond delay="0"/>
                            </p:stCondLst>
                            <p:childTnLst>
                              <p:par>
                                <p:cTn id="8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9" fill="hold">
                      <p:stCondLst>
                        <p:cond delay="indefinite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id="8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3" fill="hold">
                      <p:stCondLst>
                        <p:cond delay="indefinite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7" fill="hold">
                      <p:stCondLst>
                        <p:cond delay="indefinite"/>
                      </p:stCondLst>
                      <p:childTnLst>
                        <p:par>
                          <p:cTn id="848" fill="hold">
                            <p:stCondLst>
                              <p:cond delay="0"/>
                            </p:stCondLst>
                            <p:childTnLst>
                              <p:par>
                                <p:cTn id="8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1" fill="hold">
                      <p:stCondLst>
                        <p:cond delay="indefinite"/>
                      </p:stCondLst>
                      <p:childTnLst>
                        <p:par>
                          <p:cTn id="852" fill="hold">
                            <p:stCondLst>
                              <p:cond delay="0"/>
                            </p:stCondLst>
                            <p:childTnLst>
                              <p:par>
                                <p:cTn id="8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5" fill="hold">
                      <p:stCondLst>
                        <p:cond delay="indefinite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850680" y="3061080"/>
            <a:ext cx="10849320" cy="118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</a:rPr>
              <a:t>Résumé des deux semestres</a:t>
            </a:r>
            <a:br>
              <a:rPr sz="4000"/>
            </a:br>
            <a:r>
              <a:rPr b="1" lang="en-US" sz="4000" spc="-1" strike="noStrike">
                <a:solidFill>
                  <a:schemeClr val="dk1"/>
                </a:solidFill>
                <a:latin typeface="Verdana"/>
              </a:rPr>
              <a:t>(au tableau)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50680" y="3061080"/>
            <a:ext cx="10849320" cy="73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</a:rPr>
              <a:t>Rappel sur R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50680" y="560160"/>
            <a:ext cx="9567720" cy="179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Exemple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720000" y="1476360"/>
            <a:ext cx="10840680" cy="556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J’ai des données de taux de cholestérol  (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chol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) en fonction de l’âge (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age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) et du genre des patients (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genre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, qui vaut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“h”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,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“f”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ou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“autre”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). Mon tableau s’appelle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taux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Je veux d’abord sélectionner tous les patients de plus de 50 ans. </a:t>
            </a: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Comment faire sous R ?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taux[taux$age &gt;= 50,]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Je veux sélectionner tous les hommes de plus de 50 ans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taux[taux$age &gt;= 50 &amp; taux$genre == “h”,]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Je veux sélectionner les personnes qui ne sont pas des hommes de moins de 30 ans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taux[taux$genre != “h” &amp;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taux$age &lt; 30,]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9" dur="indefinite" restart="never" nodeType="tmRoot">
          <p:childTnLst>
            <p:seq>
              <p:cTn id="860" dur="indefinite" nodeType="mainSeq">
                <p:childTnLst>
                  <p:par>
                    <p:cTn id="861" fill="hold">
                      <p:stCondLst>
                        <p:cond delay="indefinite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5" fill="hold">
                      <p:stCondLst>
                        <p:cond delay="indefinite"/>
                      </p:stCondLst>
                      <p:childTnLst>
                        <p:par>
                          <p:cTn id="866" fill="hold">
                            <p:stCondLst>
                              <p:cond delay="0"/>
                            </p:stCondLst>
                            <p:childTnLst>
                              <p:par>
                                <p:cTn id="8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9" fill="hold">
                      <p:stCondLst>
                        <p:cond delay="indefinite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par>
                                <p:cTn id="8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3" fill="hold">
                      <p:stCondLst>
                        <p:cond delay="indefinite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7" fill="hold">
                      <p:stCondLst>
                        <p:cond delay="indefinite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1" fill="hold">
                      <p:stCondLst>
                        <p:cond delay="indefinite"/>
                      </p:stCondLst>
                      <p:childTnLst>
                        <p:par>
                          <p:cTn id="882" fill="hold">
                            <p:stCondLst>
                              <p:cond delay="0"/>
                            </p:stCondLst>
                            <p:childTnLst>
                              <p:par>
                                <p:cTn id="8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5" fill="hold">
                      <p:stCondLst>
                        <p:cond delay="indefinite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50680" y="560160"/>
            <a:ext cx="9567720" cy="179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  <a:ea typeface="Verdana"/>
              </a:rPr>
              <a:t>Exemple 2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20000" y="1476360"/>
            <a:ext cx="10840680" cy="613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Aft>
                <a:spcPts val="1080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J’ai des données de taux de cholestérol  (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chol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) en fonction de l’âge (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age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) et du genre des patients (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genre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, qui vaut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“h”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,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“f”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ou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“autre”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). Mon tableau s’appelle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taux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720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Je veux connaître le nombre de lignes de mon tableau. Comment faire ?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length(taux$chol)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ou bien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dim(taux$chol)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720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Je veux obtenir les âges des femmes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taux[taux$genre == “f”, “age”]</a:t>
            </a: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ou bien </a:t>
            </a: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taux$age[taux$genre == “f”]</a:t>
            </a:r>
            <a:r>
              <a:rPr b="1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1080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Je veux obtenir le genre des personnes ayant un taux de cholestérol supérieur à 130 ou d’âge supérieur à 50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taux[taux$chol &gt; 130 | taux$age &gt; 50, “genre”]</a:t>
            </a:r>
            <a:br>
              <a:rPr sz="2200"/>
            </a:br>
            <a:r>
              <a:rPr b="0" lang="en-US" sz="2200" spc="-1" strike="noStrike">
                <a:solidFill>
                  <a:srgbClr val="1c1c1c"/>
                </a:solidFill>
                <a:latin typeface="Lato"/>
                <a:ea typeface="Lato"/>
              </a:rPr>
              <a:t>ou bien</a:t>
            </a:r>
            <a:br>
              <a:rPr sz="2200"/>
            </a:br>
            <a:r>
              <a:rPr b="1" lang="en-US" sz="2200" spc="-1" strike="noStrike">
                <a:solidFill>
                  <a:srgbClr val="1c1c1c"/>
                </a:solidFill>
                <a:latin typeface="Consolas"/>
                <a:ea typeface="Lato"/>
              </a:rPr>
              <a:t>taux$genre[taux$chol &gt; 130 | taux$age &gt; 50]</a:t>
            </a: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endParaRPr b="0" lang="en-US" sz="2200" spc="-1" strike="noStrike">
              <a:solidFill>
                <a:srgbClr val="000000"/>
              </a:solidFill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endParaRPr b="0" lang="en-US" sz="2200" spc="-1" strike="noStrike">
              <a:solidFill>
                <a:srgbClr val="000000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89" dur="indefinite" restart="never" nodeType="tmRoot">
          <p:childTnLst>
            <p:seq>
              <p:cTn id="890" dur="indefinite" nodeType="mainSeq">
                <p:childTnLst>
                  <p:par>
                    <p:cTn id="891" fill="hold">
                      <p:stCondLst>
                        <p:cond delay="indefinite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5" fill="hold">
                      <p:stCondLst>
                        <p:cond delay="indefinite"/>
                      </p:stCondLst>
                      <p:childTnLst>
                        <p:par>
                          <p:cTn id="896" fill="hold">
                            <p:stCondLst>
                              <p:cond delay="0"/>
                            </p:stCondLst>
                            <p:childTnLst>
                              <p:par>
                                <p:cTn id="8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9" fill="hold">
                      <p:stCondLst>
                        <p:cond delay="indefinite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id="9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3" fill="hold">
                      <p:stCondLst>
                        <p:cond delay="indefinite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7" fill="hold">
                      <p:stCondLst>
                        <p:cond delay="indefinite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1" fill="hold">
                      <p:stCondLst>
                        <p:cond delay="indefinite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5" fill="hold">
                      <p:stCondLst>
                        <p:cond delay="indefinite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850680" y="3061080"/>
            <a:ext cx="10849320" cy="73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Verdana"/>
              </a:rPr>
              <a:t>Quelles questions avez-vous ?</a:t>
            </a:r>
            <a:endParaRPr b="0" lang="en-US" sz="4000" spc="-1" strike="noStrike">
              <a:solidFill>
                <a:schemeClr val="dk1"/>
              </a:solidFill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13175</TotalTime>
  <Application>LibreOffice/24.2.4.2$Windows_X86_64 LibreOffice_project/51a6219feb6075d9a4c46691dcfe0cd9c4fff3c2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2017-02-21T04:29:22Z</dcterms:created>
  <dc:creator>Pangara</dc:creator>
  <dc:description/>
  <dc:language>en-US</dc:language>
  <cp:lastModifiedBy>Matthias Grenié</cp:lastModifiedBy>
  <cp:lastPrinted>2024-03-12T13:56:21Z</cp:lastPrinted>
  <dcterms:modified xsi:type="dcterms:W3CDTF">2025-03-18T14:27:53Z</dcterms:modified>
  <cp:revision>1483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Grand écran</vt:lpwstr>
  </property>
  <property fmtid="{D5CDD505-2E9C-101B-9397-08002B2CF9AE}" pid="4" name="Slides">
    <vt:r8>7</vt:r8>
  </property>
</Properties>
</file>